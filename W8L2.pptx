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310" r:id="rId2"/>
    <p:sldId id="311" r:id="rId3"/>
    <p:sldId id="312" r:id="rId4"/>
    <p:sldId id="313" r:id="rId5"/>
    <p:sldId id="314" r:id="rId6"/>
    <p:sldId id="315" r:id="rId7"/>
    <p:sldId id="316" r:id="rId8"/>
    <p:sldId id="334" r:id="rId9"/>
    <p:sldId id="358" r:id="rId10"/>
    <p:sldId id="317" r:id="rId11"/>
    <p:sldId id="318" r:id="rId12"/>
    <p:sldId id="319" r:id="rId13"/>
    <p:sldId id="320" r:id="rId14"/>
    <p:sldId id="321" r:id="rId15"/>
    <p:sldId id="359" r:id="rId16"/>
    <p:sldId id="360" r:id="rId17"/>
    <p:sldId id="362" r:id="rId18"/>
    <p:sldId id="361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335" r:id="rId32"/>
    <p:sldId id="336" r:id="rId33"/>
    <p:sldId id="337" r:id="rId34"/>
    <p:sldId id="338" r:id="rId35"/>
    <p:sldId id="339" r:id="rId36"/>
    <p:sldId id="340" r:id="rId37"/>
    <p:sldId id="341" r:id="rId38"/>
    <p:sldId id="342" r:id="rId39"/>
    <p:sldId id="343" r:id="rId40"/>
    <p:sldId id="344" r:id="rId41"/>
    <p:sldId id="345" r:id="rId42"/>
    <p:sldId id="346" r:id="rId43"/>
    <p:sldId id="347" r:id="rId44"/>
    <p:sldId id="348" r:id="rId45"/>
    <p:sldId id="349" r:id="rId46"/>
    <p:sldId id="350" r:id="rId47"/>
    <p:sldId id="351" r:id="rId48"/>
    <p:sldId id="352" r:id="rId49"/>
    <p:sldId id="353" r:id="rId50"/>
    <p:sldId id="354" r:id="rId51"/>
    <p:sldId id="355" r:id="rId52"/>
    <p:sldId id="356" r:id="rId53"/>
    <p:sldId id="363" r:id="rId54"/>
    <p:sldId id="364" r:id="rId55"/>
    <p:sldId id="357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248" d="100"/>
          <a:sy n="248" d="100"/>
        </p:scale>
        <p:origin x="19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D5965-83BE-47EA-957F-D388F0C9E5D2}" type="datetimeFigureOut">
              <a:rPr lang="en-SG" smtClean="0"/>
              <a:t>12/3/2026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603C12-0674-4DFE-9232-DE349747F8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18194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DB33-A792-4D40-A81D-639A5738A579}" type="datetime1">
              <a:rPr lang="en-SG" smtClean="0"/>
              <a:t>12/3/2026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A5B1-6D28-48D5-B5C9-E3D757CD51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83283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42258-E046-4314-ACD9-15D0B84BF664}" type="datetime1">
              <a:rPr lang="en-SG" smtClean="0"/>
              <a:t>12/3/2026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A5B1-6D28-48D5-B5C9-E3D757CD51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35040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CBC60-7390-4885-A75B-53774AAC0BB1}" type="datetime1">
              <a:rPr lang="en-SG" smtClean="0"/>
              <a:t>12/3/2026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A5B1-6D28-48D5-B5C9-E3D757CD51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65410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173D2-49AD-48F7-8E12-A16EF7D1667B}" type="datetime1">
              <a:rPr lang="en-SG" smtClean="0"/>
              <a:t>12/3/2026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A5B1-6D28-48D5-B5C9-E3D757CD51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50450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32DA-49E2-4858-8C42-67B02B63C4DA}" type="datetime1">
              <a:rPr lang="en-SG" smtClean="0"/>
              <a:t>12/3/2026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A5B1-6D28-48D5-B5C9-E3D757CD51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774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778A6-5CCC-49D8-A07D-6F138DD014F6}" type="datetime1">
              <a:rPr lang="en-SG" smtClean="0"/>
              <a:t>12/3/2026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A5B1-6D28-48D5-B5C9-E3D757CD51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72142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0E9D2-7443-4217-96AE-1BAB3D9641D2}" type="datetime1">
              <a:rPr lang="en-SG" smtClean="0"/>
              <a:t>12/3/2026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A5B1-6D28-48D5-B5C9-E3D757CD51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2291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F790-89E5-4AD6-BF3A-42918908C250}" type="datetime1">
              <a:rPr lang="en-SG" smtClean="0"/>
              <a:t>12/3/2026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A5B1-6D28-48D5-B5C9-E3D757CD51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9562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4687D-A557-49CE-94AB-5DA0291D9569}" type="datetime1">
              <a:rPr lang="en-SG" smtClean="0"/>
              <a:t>12/3/2026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A5B1-6D28-48D5-B5C9-E3D757CD51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585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DF26E-B0D0-4F45-BDB5-34385E085E05}" type="datetime1">
              <a:rPr lang="en-SG" smtClean="0"/>
              <a:t>12/3/2026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A5B1-6D28-48D5-B5C9-E3D757CD51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02668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CF99F-F7A3-4B63-8427-4D69A8BED1B4}" type="datetime1">
              <a:rPr lang="en-SG" smtClean="0"/>
              <a:t>12/3/2026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A5B1-6D28-48D5-B5C9-E3D757CD51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89038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C8B80-D047-4B49-B6DA-43AA0350BF2E}" type="datetime1">
              <a:rPr lang="en-SG" smtClean="0"/>
              <a:t>12/3/2026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4A5B1-6D28-48D5-B5C9-E3D757CD51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030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yrloke@ntu.edu.s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SC3103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Embedded Programming</a:t>
            </a:r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Lecture 2: Multitasking</a:t>
            </a:r>
          </a:p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Loke Yuan Ren</a:t>
            </a:r>
          </a:p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yrloke@ntu.edu.sg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S3-B2C-114</a:t>
            </a:r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849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Multitasking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With increased complexity in many embedded applications</a:t>
            </a:r>
          </a:p>
          <a:p>
            <a:r>
              <a:rPr lang="en-US" dirty="0"/>
              <a:t>operating system (OS) have become an essential element in many modern embedded systems </a:t>
            </a:r>
          </a:p>
          <a:p>
            <a:pPr marL="0" indent="0">
              <a:buNone/>
            </a:pPr>
            <a:r>
              <a:rPr lang="en-US" dirty="0"/>
              <a:t>Multitasking is probably the main reason for using an OS</a:t>
            </a:r>
          </a:p>
          <a:p>
            <a:r>
              <a:rPr lang="en-US" dirty="0"/>
              <a:t>which means multiple tasks can run ‘concurrently’</a:t>
            </a:r>
          </a:p>
          <a:p>
            <a:pPr marL="0" indent="0">
              <a:buNone/>
            </a:pPr>
            <a:r>
              <a:rPr lang="en-US" dirty="0"/>
              <a:t>Using multitasking design allows a system to be developed in a modular manner</a:t>
            </a:r>
          </a:p>
          <a:p>
            <a:r>
              <a:rPr lang="en-US" dirty="0"/>
              <a:t>which ease the implementation of the system program coding </a:t>
            </a:r>
          </a:p>
          <a:p>
            <a:r>
              <a:rPr lang="en-US" dirty="0"/>
              <a:t>enable parallel programming (matched well with multi-core CPU or multi-processor system)</a:t>
            </a:r>
          </a:p>
          <a:p>
            <a:pPr marL="0" indent="0">
              <a:buNone/>
            </a:pPr>
            <a:r>
              <a:rPr lang="en-US" dirty="0"/>
              <a:t>In Linux, multitasking can be performed at the </a:t>
            </a:r>
          </a:p>
          <a:p>
            <a:r>
              <a:rPr lang="en-US" dirty="0"/>
              <a:t>process level - </a:t>
            </a:r>
            <a:r>
              <a:rPr lang="en-US" dirty="0">
                <a:solidFill>
                  <a:srgbClr val="FF0000"/>
                </a:solidFill>
              </a:rPr>
              <a:t>multiple processes </a:t>
            </a:r>
            <a:r>
              <a:rPr lang="en-US" dirty="0"/>
              <a:t>running simultaneously</a:t>
            </a:r>
          </a:p>
          <a:p>
            <a:r>
              <a:rPr lang="en-US" dirty="0"/>
              <a:t>thread level - </a:t>
            </a:r>
            <a:r>
              <a:rPr lang="en-US" dirty="0">
                <a:solidFill>
                  <a:srgbClr val="FF0000"/>
                </a:solidFill>
              </a:rPr>
              <a:t>multiple threads </a:t>
            </a:r>
            <a:r>
              <a:rPr lang="en-US" dirty="0"/>
              <a:t>executing concurrently 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37706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 charset="0"/>
              </a:rPr>
              <a:t>Process, Thread and Task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First, what are the differences between Process, Thread and Task when used in discussing multitasking?</a:t>
            </a:r>
          </a:p>
          <a:p>
            <a:pPr marL="0" lvl="0" indent="0">
              <a:spcBef>
                <a:spcPts val="0"/>
              </a:spcBef>
              <a:buNone/>
            </a:pPr>
            <a:endParaRPr lang="en-US" sz="1000" dirty="0"/>
          </a:p>
          <a:p>
            <a:pPr marL="457200" lvl="0" indent="-457200">
              <a:spcBef>
                <a:spcPts val="0"/>
              </a:spcBef>
              <a:buAutoNum type="alphaLcParenR"/>
            </a:pPr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process</a:t>
            </a:r>
            <a:r>
              <a:rPr lang="en-US" dirty="0"/>
              <a:t> is an instance of a program that is loaded into the memory for execution.</a:t>
            </a:r>
          </a:p>
          <a:p>
            <a:pPr marL="457200" lvl="0" indent="-457200">
              <a:spcBef>
                <a:spcPts val="0"/>
              </a:spcBef>
              <a:buAutoNum type="alphaLcParenR"/>
            </a:pPr>
            <a:endParaRPr lang="en-US" sz="900" dirty="0"/>
          </a:p>
          <a:p>
            <a:pPr marL="906463" indent="-457200">
              <a:spcBef>
                <a:spcPts val="0"/>
              </a:spcBef>
            </a:pPr>
            <a:r>
              <a:rPr lang="en-US" dirty="0"/>
              <a:t>With OS, multiple processes (i.e. programs) can be launched and run at the ‘same’ time.</a:t>
            </a:r>
          </a:p>
          <a:p>
            <a:pPr marL="449263" lvl="0" indent="0">
              <a:spcBef>
                <a:spcPts val="0"/>
              </a:spcBef>
            </a:pPr>
            <a:endParaRPr lang="en-US" sz="1200" dirty="0"/>
          </a:p>
          <a:p>
            <a:pPr marL="906463" indent="-457200">
              <a:spcBef>
                <a:spcPts val="0"/>
              </a:spcBef>
            </a:pPr>
            <a:r>
              <a:rPr lang="en-US" dirty="0"/>
              <a:t>In Linux, multiple processes can be launched by adding the symbol ‘</a:t>
            </a:r>
            <a:r>
              <a:rPr lang="en-US" dirty="0">
                <a:solidFill>
                  <a:srgbClr val="C00000"/>
                </a:solidFill>
                <a:cs typeface="Courier New" panose="02070309020205020404" pitchFamily="49" charset="0"/>
              </a:rPr>
              <a:t>&amp;</a:t>
            </a:r>
            <a:r>
              <a:rPr lang="en-US" dirty="0"/>
              <a:t>’ to the command, e.g.   </a:t>
            </a:r>
            <a:r>
              <a:rPr lang="en-US" dirty="0">
                <a:solidFill>
                  <a:srgbClr val="C00000"/>
                </a:solidFill>
                <a:cs typeface="Courier New" panose="02070309020205020404" pitchFamily="49" charset="0"/>
              </a:rPr>
              <a:t>./prog1 &amp; </a:t>
            </a:r>
            <a:endParaRPr lang="en-US" dirty="0"/>
          </a:p>
          <a:p>
            <a:pPr marL="449263" lvl="0" indent="0">
              <a:spcBef>
                <a:spcPts val="0"/>
              </a:spcBef>
            </a:pPr>
            <a:endParaRPr lang="en-US" sz="900" dirty="0"/>
          </a:p>
          <a:p>
            <a:pPr marL="906463" indent="-457200">
              <a:spcBef>
                <a:spcPts val="0"/>
              </a:spcBef>
            </a:pPr>
            <a:r>
              <a:rPr lang="en-US" dirty="0"/>
              <a:t>As each process does not share its resources, communication between processes is not very convenient</a:t>
            </a:r>
          </a:p>
          <a:p>
            <a:pPr marL="1363663" lvl="1" indent="-457200">
              <a:spcBef>
                <a:spcPts val="0"/>
              </a:spcBef>
            </a:pPr>
            <a:r>
              <a:rPr lang="en-US" dirty="0"/>
              <a:t>an Inter-Process Communication (IPC) mechanism is hence needed.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84229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 charset="0"/>
              </a:rPr>
              <a:t>Process, Thread and Task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52015"/>
          </a:xfrm>
        </p:spPr>
        <p:txBody>
          <a:bodyPr>
            <a:normAutofit fontScale="92500" lnSpcReduction="1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sz="2400" dirty="0">
                <a:latin typeface="Helvetica" pitchFamily="32"/>
              </a:rPr>
              <a:t>b)  </a:t>
            </a:r>
            <a:r>
              <a:rPr lang="en-US" sz="2400" dirty="0"/>
              <a:t>A program can be written in such a way such that when it is running </a:t>
            </a:r>
          </a:p>
          <a:p>
            <a:pPr marL="0" lvl="0" indent="0">
              <a:spcBef>
                <a:spcPts val="0"/>
              </a:spcBef>
              <a:buNone/>
            </a:pPr>
            <a:endParaRPr lang="en-US" sz="2400" dirty="0"/>
          </a:p>
          <a:p>
            <a:pPr marL="809625" lvl="1" indent="-407988">
              <a:spcBef>
                <a:spcPts val="0"/>
              </a:spcBef>
            </a:pPr>
            <a:r>
              <a:rPr lang="en-US" dirty="0"/>
              <a:t>Its process will, in turn, spawn multiple </a:t>
            </a:r>
            <a:r>
              <a:rPr lang="en-US" dirty="0">
                <a:solidFill>
                  <a:srgbClr val="C00000"/>
                </a:solidFill>
              </a:rPr>
              <a:t>thread</a:t>
            </a:r>
            <a:r>
              <a:rPr lang="en-US" dirty="0"/>
              <a:t>s</a:t>
            </a:r>
          </a:p>
          <a:p>
            <a:pPr marL="400050" lvl="1" indent="0">
              <a:spcBef>
                <a:spcPts val="0"/>
              </a:spcBef>
              <a:buNone/>
            </a:pPr>
            <a:endParaRPr lang="en-US" sz="1100" dirty="0"/>
          </a:p>
          <a:p>
            <a:pPr marL="400050" lvl="1" indent="0">
              <a:spcBef>
                <a:spcPts val="0"/>
              </a:spcBef>
              <a:buNone/>
            </a:pPr>
            <a:r>
              <a:rPr lang="en-US" dirty="0"/>
              <a:t>Each thread is coded to perform a particular function</a:t>
            </a:r>
          </a:p>
          <a:p>
            <a:pPr marL="400050" lvl="1" indent="0">
              <a:spcBef>
                <a:spcPts val="0"/>
              </a:spcBef>
              <a:buNone/>
            </a:pPr>
            <a:endParaRPr lang="en-US" dirty="0"/>
          </a:p>
          <a:p>
            <a:pPr marL="400050" lvl="1" indent="0">
              <a:spcBef>
                <a:spcPts val="0"/>
              </a:spcBef>
              <a:buNone/>
            </a:pPr>
            <a:endParaRPr lang="en-US" sz="1400" dirty="0"/>
          </a:p>
          <a:p>
            <a:pPr marL="400050" lvl="1" indent="0">
              <a:spcBef>
                <a:spcPts val="0"/>
              </a:spcBef>
              <a:buNone/>
            </a:pPr>
            <a:endParaRPr lang="en-US" dirty="0"/>
          </a:p>
          <a:p>
            <a:pPr marL="400050" lvl="1" indent="0">
              <a:spcBef>
                <a:spcPts val="0"/>
              </a:spcBef>
              <a:buNone/>
            </a:pPr>
            <a:endParaRPr lang="en-US" dirty="0"/>
          </a:p>
          <a:p>
            <a:pPr marL="400050" lvl="1" indent="0">
              <a:spcBef>
                <a:spcPts val="0"/>
              </a:spcBef>
              <a:buNone/>
            </a:pPr>
            <a:endParaRPr lang="en-US" dirty="0"/>
          </a:p>
          <a:p>
            <a:pPr marL="400050" lvl="1" indent="0">
              <a:spcBef>
                <a:spcPts val="0"/>
              </a:spcBef>
              <a:buNone/>
            </a:pPr>
            <a:endParaRPr lang="en-US" dirty="0"/>
          </a:p>
          <a:p>
            <a:pPr marL="400050" lvl="1" indent="0">
              <a:spcBef>
                <a:spcPts val="0"/>
              </a:spcBef>
              <a:buNone/>
            </a:pPr>
            <a:endParaRPr lang="en-US" sz="1000" dirty="0"/>
          </a:p>
          <a:p>
            <a:pPr marL="400050" lvl="1" indent="0">
              <a:spcBef>
                <a:spcPts val="0"/>
              </a:spcBef>
              <a:buNone/>
            </a:pPr>
            <a:r>
              <a:rPr lang="en-US" dirty="0"/>
              <a:t>A process, by default is considered to have one thread, the main() thread (when it doesn’t explicitly spawn thread(s))</a:t>
            </a:r>
          </a:p>
          <a:p>
            <a:pPr marL="400050" lvl="1" indent="0">
              <a:spcBef>
                <a:spcPts val="0"/>
              </a:spcBef>
              <a:buNone/>
            </a:pPr>
            <a:endParaRPr lang="en-US" sz="1100" dirty="0"/>
          </a:p>
          <a:p>
            <a:pPr marL="400050" lvl="1" indent="0">
              <a:spcBef>
                <a:spcPts val="0"/>
              </a:spcBef>
              <a:buNone/>
            </a:pPr>
            <a:r>
              <a:rPr lang="en-US" dirty="0"/>
              <a:t>Threads spawned by a process share most of their resources made available by the process</a:t>
            </a:r>
          </a:p>
          <a:p>
            <a:pPr marL="742950" lvl="1" indent="-342900">
              <a:spcBef>
                <a:spcPts val="0"/>
              </a:spcBef>
            </a:pPr>
            <a:r>
              <a:rPr lang="en-US" dirty="0"/>
              <a:t>communication between threads is hence simple, but  care has to be taken when accessing shared resource.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Freeform: Shape 30"/>
          <p:cNvSpPr/>
          <p:nvPr/>
        </p:nvSpPr>
        <p:spPr>
          <a:xfrm>
            <a:off x="5514517" y="3124752"/>
            <a:ext cx="3208885" cy="1173157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t" r="ir" b="ib"/>
            <a:pathLst>
              <a:path>
                <a:moveTo>
                  <a:pt x="l" y="vc"/>
                </a:moveTo>
                <a:arcTo wR="wd2" hR="hd2" stAng="cd2" swAng="cd4"/>
                <a:arcTo wR="wd2" hR="hd2" stAng="3cd4" swAng="cd4"/>
                <a:arcTo wR="wd2" hR="hd2" stAng="0" swAng="cd4"/>
                <a:arcTo wR="wd2" hR="hd2" stAng="cd4" swAng="cd4"/>
                <a:close/>
              </a:path>
            </a:pathLst>
          </a:custGeom>
          <a:solidFill>
            <a:srgbClr val="CCCCFF"/>
          </a:solidFill>
          <a:ln w="0">
            <a:solidFill>
              <a:srgbClr val="000000"/>
            </a:solidFill>
            <a:prstDash val="solid"/>
          </a:ln>
        </p:spPr>
        <p:txBody>
          <a:bodyPr vert="horz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dirty="0">
              <a:ln>
                <a:noFill/>
              </a:ln>
              <a:latin typeface="Nimbus Sans L" pitchFamily="18"/>
              <a:ea typeface="HG Mincho Light J" pitchFamily="2"/>
              <a:cs typeface="Nimbus Sans L" pitchFamily="2"/>
            </a:endParaRPr>
          </a:p>
        </p:txBody>
      </p:sp>
      <p:sp>
        <p:nvSpPr>
          <p:cNvPr id="5" name="Freeform: Shape 22"/>
          <p:cNvSpPr/>
          <p:nvPr/>
        </p:nvSpPr>
        <p:spPr>
          <a:xfrm>
            <a:off x="1519204" y="3148412"/>
            <a:ext cx="3208885" cy="1337819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t" r="ir" b="ib"/>
            <a:pathLst>
              <a:path>
                <a:moveTo>
                  <a:pt x="l" y="vc"/>
                </a:moveTo>
                <a:arcTo wR="wd2" hR="hd2" stAng="cd2" swAng="cd4"/>
                <a:arcTo wR="wd2" hR="hd2" stAng="3cd4" swAng="cd4"/>
                <a:arcTo wR="wd2" hR="hd2" stAng="0" swAng="cd4"/>
                <a:arcTo wR="wd2" hR="hd2" stAng="cd4" swAng="cd4"/>
                <a:close/>
              </a:path>
            </a:pathLst>
          </a:custGeom>
          <a:solidFill>
            <a:srgbClr val="CCCCFF"/>
          </a:solidFill>
          <a:ln w="0">
            <a:solidFill>
              <a:srgbClr val="000000"/>
            </a:solidFill>
            <a:prstDash val="solid"/>
          </a:ln>
        </p:spPr>
        <p:txBody>
          <a:bodyPr vert="horz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GB" sz="1800" b="0" i="0" u="none" strike="noStrike" dirty="0">
              <a:ln>
                <a:noFill/>
              </a:ln>
              <a:latin typeface="Nimbus Sans L" pitchFamily="18"/>
              <a:ea typeface="HG Mincho Light J" pitchFamily="2"/>
              <a:cs typeface="Nimbus Sans L" pitchFamily="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79581" y="3148412"/>
            <a:ext cx="1619281" cy="43911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u="none" strike="noStrike" dirty="0">
                <a:ln>
                  <a:noFill/>
                </a:ln>
                <a:solidFill>
                  <a:srgbClr val="000000"/>
                </a:solidFill>
                <a:latin typeface="Nimbus Sans L" pitchFamily="18"/>
                <a:ea typeface="HG Mincho Light J" pitchFamily="2"/>
                <a:cs typeface="Nimbus Sans L" pitchFamily="2"/>
              </a:rPr>
              <a:t>Process</a:t>
            </a:r>
          </a:p>
        </p:txBody>
      </p:sp>
      <p:sp>
        <p:nvSpPr>
          <p:cNvPr id="7" name="Flowchart: Punched Tape 6"/>
          <p:cNvSpPr/>
          <p:nvPr/>
        </p:nvSpPr>
        <p:spPr>
          <a:xfrm>
            <a:off x="2860172" y="3933306"/>
            <a:ext cx="497325" cy="364603"/>
          </a:xfrm>
          <a:prstGeom prst="flowChartPunchedTap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rgbClr val="C00000"/>
                </a:solidFill>
              </a:rPr>
              <a:t>T3</a:t>
            </a:r>
          </a:p>
        </p:txBody>
      </p:sp>
      <p:sp>
        <p:nvSpPr>
          <p:cNvPr id="8" name="Flowchart: Punched Tape 7"/>
          <p:cNvSpPr/>
          <p:nvPr/>
        </p:nvSpPr>
        <p:spPr>
          <a:xfrm>
            <a:off x="2101795" y="3545042"/>
            <a:ext cx="497325" cy="364603"/>
          </a:xfrm>
          <a:prstGeom prst="flowChartPunchedTap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rgbClr val="C00000"/>
                </a:solidFill>
              </a:rPr>
              <a:t>T1</a:t>
            </a:r>
          </a:p>
        </p:txBody>
      </p:sp>
      <p:sp>
        <p:nvSpPr>
          <p:cNvPr id="9" name="Flowchart: Punched Tape 8"/>
          <p:cNvSpPr/>
          <p:nvPr/>
        </p:nvSpPr>
        <p:spPr>
          <a:xfrm>
            <a:off x="3679036" y="3780906"/>
            <a:ext cx="497325" cy="364603"/>
          </a:xfrm>
          <a:prstGeom prst="flowChartPunchedTap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rgbClr val="C00000"/>
                </a:solidFill>
              </a:rPr>
              <a:t>T2</a:t>
            </a:r>
          </a:p>
        </p:txBody>
      </p:sp>
      <p:sp>
        <p:nvSpPr>
          <p:cNvPr id="10" name="Flowchart: Punched Tape 9"/>
          <p:cNvSpPr/>
          <p:nvPr/>
        </p:nvSpPr>
        <p:spPr>
          <a:xfrm>
            <a:off x="6870296" y="3780906"/>
            <a:ext cx="640462" cy="431005"/>
          </a:xfrm>
          <a:prstGeom prst="flowChartPunchedTap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rgbClr val="C00000"/>
                </a:solidFill>
              </a:rPr>
              <a:t>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7856" y="3182976"/>
            <a:ext cx="1619281" cy="43911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u="none" strike="noStrike" dirty="0">
                <a:ln>
                  <a:noFill/>
                </a:ln>
                <a:solidFill>
                  <a:srgbClr val="000000"/>
                </a:solidFill>
                <a:latin typeface="Nimbus Sans L" pitchFamily="18"/>
                <a:ea typeface="HG Mincho Light J" pitchFamily="2"/>
                <a:cs typeface="Nimbus Sans L" pitchFamily="2"/>
              </a:rPr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306519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 charset="0"/>
              </a:rPr>
              <a:t>Process, Thread and Task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spcBef>
                <a:spcPts val="600"/>
              </a:spcBef>
              <a:buAutoNum type="alphaLcParenR" startAt="3"/>
            </a:pPr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task</a:t>
            </a:r>
            <a:r>
              <a:rPr lang="en-US" dirty="0"/>
              <a:t> is used as a more generic term in here</a:t>
            </a:r>
          </a:p>
          <a:p>
            <a:pPr marL="914400" indent="-457200">
              <a:spcBef>
                <a:spcPts val="600"/>
              </a:spcBef>
            </a:pPr>
            <a:r>
              <a:rPr lang="en-US" dirty="0"/>
              <a:t>which can refer to either a process or a thread that is loaded in the memory (ready) for execution </a:t>
            </a:r>
          </a:p>
          <a:p>
            <a:pPr marL="914400" indent="-457200">
              <a:spcBef>
                <a:spcPts val="600"/>
              </a:spcBef>
            </a:pPr>
            <a:endParaRPr lang="en-US" sz="200" i="1" dirty="0"/>
          </a:p>
          <a:p>
            <a:pPr marL="914400" indent="-457200">
              <a:spcBef>
                <a:spcPts val="600"/>
              </a:spcBef>
            </a:pPr>
            <a:r>
              <a:rPr lang="en-US" dirty="0"/>
              <a:t>For instance, we have a  ‘task scheduler’ in an OS</a:t>
            </a:r>
          </a:p>
          <a:p>
            <a:pPr marL="1371600" lvl="2" indent="-457200">
              <a:spcBef>
                <a:spcPts val="600"/>
              </a:spcBef>
            </a:pPr>
            <a:r>
              <a:rPr lang="en-US" dirty="0"/>
              <a:t>that schedules the different tasks for execution.</a:t>
            </a:r>
          </a:p>
          <a:p>
            <a:pPr marL="914400" indent="-457200">
              <a:spcBef>
                <a:spcPts val="600"/>
              </a:spcBef>
            </a:pPr>
            <a:endParaRPr lang="en-US" sz="200" dirty="0"/>
          </a:p>
          <a:p>
            <a:pPr marL="914400" indent="-457200">
              <a:spcBef>
                <a:spcPts val="600"/>
              </a:spcBef>
            </a:pPr>
            <a:r>
              <a:rPr lang="en-US" dirty="0"/>
              <a:t>Multitasking can hence mean having</a:t>
            </a:r>
          </a:p>
          <a:p>
            <a:pPr marL="1371600" lvl="2" indent="-457200">
              <a:spcBef>
                <a:spcPts val="600"/>
              </a:spcBef>
            </a:pPr>
            <a:r>
              <a:rPr lang="en-US" dirty="0"/>
              <a:t>multiple threads running concurrently</a:t>
            </a:r>
          </a:p>
          <a:p>
            <a:pPr marL="1371600" lvl="2" indent="-457200">
              <a:spcBef>
                <a:spcPts val="600"/>
              </a:spcBef>
            </a:pPr>
            <a:r>
              <a:rPr lang="en-US" dirty="0"/>
              <a:t>multiple processes running simultaneously, each in turn can have multiple threads in execution.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56614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 charset="0"/>
              </a:rPr>
              <a:t>Multitasking by Processes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</a:pPr>
            <a:r>
              <a:rPr lang="en-US" dirty="0"/>
              <a:t>Typical OS is designed to be able to execute multiple processes ‘concurrently’.</a:t>
            </a:r>
          </a:p>
          <a:p>
            <a:pPr>
              <a:spcBef>
                <a:spcPts val="600"/>
              </a:spcBef>
            </a:pPr>
            <a:r>
              <a:rPr lang="en-US" dirty="0"/>
              <a:t>In Linux, we can do this by launching each program with the symbol ‘</a:t>
            </a:r>
            <a:r>
              <a:rPr lang="en-US" dirty="0">
                <a:solidFill>
                  <a:srgbClr val="C00000"/>
                </a:solidFill>
                <a:cs typeface="Courier New" panose="02070309020205020404" pitchFamily="49" charset="0"/>
              </a:rPr>
              <a:t>&amp;</a:t>
            </a:r>
            <a:r>
              <a:rPr lang="en-US" dirty="0"/>
              <a:t>’ add to the command</a:t>
            </a:r>
          </a:p>
          <a:p>
            <a:pPr lvl="1">
              <a:spcBef>
                <a:spcPts val="0"/>
              </a:spcBef>
            </a:pPr>
            <a:r>
              <a:rPr lang="en-US" dirty="0"/>
              <a:t>which mean to run the program in the background, and return the user to the Shell interface for further command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Example: we can launch two programs by keying the two commands in Shell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rgbClr val="C00000"/>
                </a:solidFill>
                <a:cs typeface="Courier New" panose="02070309020205020404" pitchFamily="49" charset="0"/>
              </a:rPr>
              <a:t>	./prog1 &amp;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rgbClr val="C00000"/>
                </a:solidFill>
                <a:cs typeface="Courier New" panose="02070309020205020404" pitchFamily="49" charset="0"/>
              </a:rPr>
              <a:t>	./prog2 &amp;</a:t>
            </a:r>
          </a:p>
          <a:p>
            <a:pPr>
              <a:spcBef>
                <a:spcPts val="600"/>
              </a:spcBef>
            </a:pPr>
            <a:endParaRPr lang="en-US" sz="900" dirty="0">
              <a:solidFill>
                <a:srgbClr val="C00000"/>
              </a:solidFill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en-US" dirty="0"/>
              <a:t>However, in many situations, it is better to launch multiple processes from one program</a:t>
            </a:r>
          </a:p>
          <a:p>
            <a:pPr lvl="1">
              <a:spcBef>
                <a:spcPts val="0"/>
              </a:spcBef>
            </a:pPr>
            <a:r>
              <a:rPr lang="en-US" dirty="0"/>
              <a:t>one process downloading a file with another process showing the progress bar.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3704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 charset="0"/>
              </a:rPr>
              <a:t>Process Types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7517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/>
              <a:t>There are different types of processes in a Linux system.</a:t>
            </a:r>
          </a:p>
          <a:p>
            <a:r>
              <a:rPr lang="en-US" sz="8000" dirty="0">
                <a:solidFill>
                  <a:srgbClr val="FF0000"/>
                </a:solidFill>
              </a:rPr>
              <a:t>User process</a:t>
            </a:r>
          </a:p>
          <a:p>
            <a:pPr marL="692150" indent="-346075"/>
            <a:r>
              <a:rPr lang="en-US" sz="8000" dirty="0"/>
              <a:t>initiated by a regular user account and runs in user space</a:t>
            </a:r>
          </a:p>
          <a:p>
            <a:pPr marL="692150" indent="-346075"/>
            <a:r>
              <a:rPr lang="en-US" sz="8000" dirty="0"/>
              <a:t>can only access files on the system that belong to the user who launched the process.</a:t>
            </a:r>
            <a:endParaRPr lang="en-US" sz="4400" dirty="0"/>
          </a:p>
          <a:p>
            <a:r>
              <a:rPr lang="en-US" sz="8000" dirty="0">
                <a:solidFill>
                  <a:srgbClr val="FF0000"/>
                </a:solidFill>
              </a:rPr>
              <a:t>Kernel process</a:t>
            </a:r>
          </a:p>
          <a:p>
            <a:pPr marL="692150" indent="-350838"/>
            <a:r>
              <a:rPr lang="en-US" sz="8000" dirty="0"/>
              <a:t>process that executes only in kernel space</a:t>
            </a:r>
          </a:p>
          <a:p>
            <a:pPr marL="692150" indent="-350838"/>
            <a:r>
              <a:rPr lang="en-US" sz="8000" dirty="0"/>
              <a:t>typically initiated by root or part of Kernel</a:t>
            </a:r>
          </a:p>
          <a:p>
            <a:pPr marL="692150" indent="-350838"/>
            <a:r>
              <a:rPr lang="en-US" sz="8000" dirty="0"/>
              <a:t>has full access to kernel data structures and hardware platform</a:t>
            </a:r>
          </a:p>
          <a:p>
            <a:r>
              <a:rPr lang="en-US" sz="8000" dirty="0">
                <a:solidFill>
                  <a:srgbClr val="FF0000"/>
                </a:solidFill>
              </a:rPr>
              <a:t>Daemon process</a:t>
            </a:r>
          </a:p>
          <a:p>
            <a:pPr marL="692150" indent="-350838"/>
            <a:r>
              <a:rPr lang="en-US" sz="8000" dirty="0"/>
              <a:t>typically an application that is designed to run in the background</a:t>
            </a:r>
          </a:p>
          <a:p>
            <a:pPr marL="692150" indent="-350838"/>
            <a:r>
              <a:rPr lang="en-US" sz="8000" dirty="0"/>
              <a:t>No direct user interaction</a:t>
            </a:r>
          </a:p>
          <a:p>
            <a:pPr marL="692150" indent="-350838"/>
            <a:r>
              <a:rPr lang="en-US" sz="8000" dirty="0"/>
              <a:t>such as to manage some kind of ongoing services, or listening for an incoming request for access to a service. </a:t>
            </a:r>
          </a:p>
          <a:p>
            <a:pPr marL="1149350" lvl="1" indent="-350838"/>
            <a:r>
              <a:rPr lang="en-US" sz="8000" dirty="0"/>
              <a:t>E.g., a </a:t>
            </a:r>
            <a:r>
              <a:rPr lang="en-US" sz="8000" dirty="0" err="1"/>
              <a:t>httpd</a:t>
            </a:r>
            <a:r>
              <a:rPr lang="en-US" sz="8000" dirty="0"/>
              <a:t> daemon listens for requests for web pages.</a:t>
            </a:r>
            <a:endParaRPr lang="en-US" sz="4800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61977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States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dirty="0"/>
              <a:t>The various states that a process or a task can be in: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Running</a:t>
            </a:r>
            <a:r>
              <a:rPr lang="en-US" sz="2400" dirty="0">
                <a:solidFill>
                  <a:srgbClr val="FF0000"/>
                </a:solidFill>
              </a:rPr>
              <a:t> (R)</a:t>
            </a:r>
            <a:r>
              <a:rPr lang="en-US" sz="2400" dirty="0"/>
              <a:t> </a:t>
            </a:r>
          </a:p>
          <a:p>
            <a:pPr lvl="1"/>
            <a:r>
              <a:rPr lang="en-US" sz="2000" dirty="0"/>
              <a:t>Executing: currently executing by the CPU (non-zero CPU usage)</a:t>
            </a:r>
          </a:p>
          <a:p>
            <a:pPr lvl="1"/>
            <a:r>
              <a:rPr lang="en-US" sz="2000" dirty="0"/>
              <a:t>Runnable: The process is ready to run but is waiting for CPU time (by the Scheduler). Zero CPU usage.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Sleeping</a:t>
            </a:r>
            <a:r>
              <a:rPr lang="en-US" sz="2400" dirty="0"/>
              <a:t> – not ready to run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dirty="0"/>
              <a:t>Uninterruptible Sleep </a:t>
            </a:r>
            <a:r>
              <a:rPr lang="en-US" dirty="0">
                <a:solidFill>
                  <a:srgbClr val="FF0000"/>
                </a:solidFill>
              </a:rPr>
              <a:t>(D)</a:t>
            </a:r>
          </a:p>
          <a:p>
            <a:pPr lvl="2"/>
            <a:r>
              <a:rPr lang="en-US" dirty="0"/>
              <a:t>initiated by process, e.g. </a:t>
            </a:r>
            <a:r>
              <a:rPr lang="en-US" dirty="0" err="1"/>
              <a:t>usleep</a:t>
            </a:r>
            <a:r>
              <a:rPr lang="en-US" dirty="0"/>
              <a:t>() and cannot be interrupted</a:t>
            </a:r>
          </a:p>
          <a:p>
            <a:pPr marL="971550" lvl="1" indent="-514350">
              <a:buFont typeface="+mj-lt"/>
              <a:buAutoNum type="romanLcPeriod" startAt="2"/>
            </a:pPr>
            <a:r>
              <a:rPr lang="en-US" dirty="0"/>
              <a:t>Interruptible Sleep </a:t>
            </a:r>
            <a:r>
              <a:rPr lang="en-US" dirty="0">
                <a:solidFill>
                  <a:srgbClr val="FF0000"/>
                </a:solidFill>
              </a:rPr>
              <a:t>(S)</a:t>
            </a:r>
          </a:p>
          <a:p>
            <a:pPr lvl="2"/>
            <a:r>
              <a:rPr lang="en-US" dirty="0"/>
              <a:t>waiting for event or resource to be made available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Stopped</a:t>
            </a:r>
            <a:r>
              <a:rPr lang="en-US" sz="2400" dirty="0">
                <a:solidFill>
                  <a:srgbClr val="FF0000"/>
                </a:solidFill>
              </a:rPr>
              <a:t> (T)</a:t>
            </a:r>
            <a:r>
              <a:rPr lang="en-US" sz="2400" dirty="0"/>
              <a:t> – </a:t>
            </a:r>
            <a:r>
              <a:rPr lang="en-US" sz="2200" dirty="0"/>
              <a:t>process stopped by a signal (e.g. SIGSTOP or SIGTSTP), It can be resumed with SIGCONT.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Zombie</a:t>
            </a:r>
            <a:r>
              <a:rPr lang="en-US" sz="2400" dirty="0">
                <a:solidFill>
                  <a:srgbClr val="FF0000"/>
                </a:solidFill>
              </a:rPr>
              <a:t> (T)</a:t>
            </a:r>
            <a:r>
              <a:rPr lang="en-US" sz="2400" dirty="0"/>
              <a:t> -  process has stopped but not yet removed by the parent process (not able to response to signal)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Dead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(X)</a:t>
            </a:r>
            <a:r>
              <a:rPr lang="en-US" sz="2400" dirty="0"/>
              <a:t> - The process has finished execution but is not visible in the system.</a:t>
            </a:r>
          </a:p>
          <a:p>
            <a:pPr marL="457200" indent="-457200">
              <a:buFont typeface="+mj-lt"/>
              <a:buAutoNum type="alphaLcParenR"/>
            </a:pPr>
            <a:r>
              <a:rPr lang="da-DK" sz="2400" b="1" dirty="0"/>
              <a:t>Idle </a:t>
            </a:r>
            <a:r>
              <a:rPr lang="da-DK" sz="2400" dirty="0">
                <a:solidFill>
                  <a:srgbClr val="FF0000"/>
                </a:solidFill>
              </a:rPr>
              <a:t>(I)</a:t>
            </a:r>
            <a:r>
              <a:rPr lang="da-DK" sz="2400" dirty="0"/>
              <a:t> (for kernel processes) - </a:t>
            </a:r>
            <a:r>
              <a:rPr lang="en-US" sz="2400" dirty="0"/>
              <a:t>A kernel thread that is waiting for work.</a:t>
            </a:r>
          </a:p>
          <a:p>
            <a:pPr marL="0" indent="0">
              <a:buNone/>
            </a:pPr>
            <a:r>
              <a:rPr lang="en-US" sz="2400" dirty="0"/>
              <a:t>You can view the state of a process using commands like </a:t>
            </a:r>
            <a:r>
              <a:rPr lang="en-US" sz="2400" i="1" dirty="0" err="1">
                <a:solidFill>
                  <a:srgbClr val="FF0000"/>
                </a:solidFill>
              </a:rPr>
              <a:t>ps</a:t>
            </a:r>
            <a:r>
              <a:rPr lang="en-US" sz="2400" i="1" dirty="0">
                <a:solidFill>
                  <a:srgbClr val="FF0000"/>
                </a:solidFill>
              </a:rPr>
              <a:t> aux</a:t>
            </a:r>
            <a:r>
              <a:rPr lang="en-US" sz="2400" dirty="0"/>
              <a:t> or </a:t>
            </a:r>
            <a:r>
              <a:rPr lang="en-US" sz="2400" i="1" dirty="0">
                <a:solidFill>
                  <a:srgbClr val="FF0000"/>
                </a:solidFill>
              </a:rPr>
              <a:t>top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918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Orphan Process and Zombie Process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Zombie Process: </a:t>
            </a:r>
            <a:endParaRPr lang="en-US" dirty="0"/>
          </a:p>
          <a:p>
            <a:pPr lvl="1"/>
            <a:r>
              <a:rPr lang="en-US" dirty="0"/>
              <a:t>Also known as defunct process</a:t>
            </a:r>
          </a:p>
          <a:p>
            <a:pPr lvl="1"/>
            <a:r>
              <a:rPr lang="en-US" dirty="0"/>
              <a:t>A process that has terminated but has not been cleaned up by its parent</a:t>
            </a:r>
          </a:p>
          <a:p>
            <a:pPr lvl="1"/>
            <a:r>
              <a:rPr lang="en-US" dirty="0"/>
              <a:t>Exists in the process table to allow the parent process to retrieve exit status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Orphan Process: </a:t>
            </a:r>
          </a:p>
          <a:p>
            <a:pPr lvl="1"/>
            <a:r>
              <a:rPr lang="en-US" dirty="0"/>
              <a:t>A child process whose parent has terminated or exited unexpectedly</a:t>
            </a:r>
          </a:p>
          <a:p>
            <a:pPr lvl="1"/>
            <a:r>
              <a:rPr lang="en-US" dirty="0"/>
              <a:t>Adopted by </a:t>
            </a:r>
            <a:r>
              <a:rPr lang="en-US" dirty="0" err="1"/>
              <a:t>init</a:t>
            </a:r>
            <a:r>
              <a:rPr lang="en-US" dirty="0"/>
              <a:t> (PID=1) or its modern equivalent, </a:t>
            </a:r>
            <a:r>
              <a:rPr lang="en-US" dirty="0" err="1"/>
              <a:t>systemd</a:t>
            </a:r>
            <a:endParaRPr lang="en-US" dirty="0"/>
          </a:p>
          <a:p>
            <a:pPr lvl="1"/>
            <a:r>
              <a:rPr lang="en-US" dirty="0"/>
              <a:t>Prevents the orphan process from becoming a zombie process</a:t>
            </a:r>
          </a:p>
          <a:p>
            <a:r>
              <a:rPr lang="en-US" dirty="0" err="1"/>
              <a:t>systemd</a:t>
            </a:r>
            <a:r>
              <a:rPr lang="en-US" dirty="0"/>
              <a:t> is a collection of processes known as “system units” and “service managers”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54838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 charset="0"/>
              </a:rPr>
              <a:t>Multi-Process by fork()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17545"/>
          </a:xfrm>
        </p:spPr>
        <p:txBody>
          <a:bodyPr>
            <a:noAutofit/>
          </a:bodyPr>
          <a:lstStyle/>
          <a:p>
            <a:pPr marL="0" lvl="0" indent="0" fontAlgn="auto">
              <a:spcBef>
                <a:spcPts val="0"/>
              </a:spcBef>
              <a:spcAft>
                <a:spcPts val="0"/>
              </a:spcAft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>
                <a:solidFill>
                  <a:srgbClr val="000000"/>
                </a:solidFill>
                <a:ea typeface="HG Mincho Light J" pitchFamily="2"/>
                <a:cs typeface="Arial" pitchFamily="34" charset="0"/>
              </a:rPr>
              <a:t>how </a:t>
            </a:r>
            <a:r>
              <a:rPr lang="en-GB" sz="2000" dirty="0">
                <a:solidFill>
                  <a:srgbClr val="000000"/>
                </a:solidFill>
                <a:ea typeface="HG Mincho Light J" pitchFamily="2"/>
                <a:cs typeface="Arial" pitchFamily="34" charset="0"/>
              </a:rPr>
              <a:t>can a single program break into two processes?</a:t>
            </a:r>
          </a:p>
          <a:p>
            <a:pPr lvl="0">
              <a:spcBef>
                <a:spcPts val="0"/>
              </a:spcBef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dirty="0">
                <a:solidFill>
                  <a:srgbClr val="000000"/>
                </a:solidFill>
                <a:ea typeface="HG Mincho Light J" pitchFamily="2"/>
                <a:cs typeface="Arial" pitchFamily="34" charset="0"/>
              </a:rPr>
              <a:t>one common method (in Linux) is to use </a:t>
            </a:r>
            <a:r>
              <a:rPr lang="en-GB" sz="2000" i="1" dirty="0">
                <a:solidFill>
                  <a:srgbClr val="00B050"/>
                </a:solidFill>
                <a:ea typeface="HG Mincho Light J" pitchFamily="2"/>
                <a:cs typeface="Arial" pitchFamily="34" charset="0"/>
              </a:rPr>
              <a:t>fork()</a:t>
            </a:r>
            <a:r>
              <a:rPr lang="en-GB" sz="2000" dirty="0">
                <a:solidFill>
                  <a:srgbClr val="00B050"/>
                </a:solidFill>
                <a:ea typeface="HG Mincho Light J" pitchFamily="2"/>
                <a:cs typeface="Arial" pitchFamily="34" charset="0"/>
              </a:rPr>
              <a:t>. </a:t>
            </a:r>
          </a:p>
          <a:p>
            <a:pPr marL="0" lvl="0" indent="0">
              <a:spcBef>
                <a:spcPts val="0"/>
              </a:spcBef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2000" dirty="0">
              <a:solidFill>
                <a:srgbClr val="00B050"/>
              </a:solidFill>
              <a:ea typeface="HG Mincho Light J" pitchFamily="2"/>
              <a:cs typeface="Arial" pitchFamily="34" charset="0"/>
            </a:endParaRPr>
          </a:p>
          <a:p>
            <a:pPr marL="0" lvl="0" indent="0">
              <a:spcBef>
                <a:spcPts val="0"/>
              </a:spcBef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dirty="0">
                <a:solidFill>
                  <a:srgbClr val="000000"/>
                </a:solidFill>
                <a:ea typeface="HG Mincho Light J" pitchFamily="2"/>
                <a:cs typeface="Arial" pitchFamily="34" charset="0"/>
              </a:rPr>
              <a:t>Overview:</a:t>
            </a:r>
          </a:p>
          <a:p>
            <a:pPr lvl="1">
              <a:spcBef>
                <a:spcPts val="0"/>
              </a:spcBef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i="1" dirty="0">
                <a:solidFill>
                  <a:srgbClr val="00B050"/>
                </a:solidFill>
                <a:ea typeface="HG Mincho Light J" pitchFamily="2"/>
                <a:cs typeface="Arial" pitchFamily="34" charset="0"/>
              </a:rPr>
              <a:t>fork() </a:t>
            </a:r>
            <a:r>
              <a:rPr lang="en-US" sz="2000" dirty="0">
                <a:solidFill>
                  <a:srgbClr val="000000"/>
                </a:solidFill>
                <a:ea typeface="HG Mincho Light J" pitchFamily="2"/>
                <a:cs typeface="Arial" pitchFamily="34" charset="0"/>
              </a:rPr>
              <a:t>splits the running process into two: a parent process and a child process.</a:t>
            </a:r>
          </a:p>
          <a:p>
            <a:pPr lvl="1">
              <a:spcBef>
                <a:spcPts val="0"/>
              </a:spcBef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dirty="0">
                <a:solidFill>
                  <a:srgbClr val="000000"/>
                </a:solidFill>
                <a:ea typeface="HG Mincho Light J" pitchFamily="2"/>
                <a:cs typeface="Arial" pitchFamily="34" charset="0"/>
              </a:rPr>
              <a:t>Both processes will run the same code but are assigned different process IDs (PIDs).</a:t>
            </a:r>
          </a:p>
          <a:p>
            <a:pPr lvl="2">
              <a:spcBef>
                <a:spcPts val="0"/>
              </a:spcBef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ea typeface="HG Mincho Light J" pitchFamily="2"/>
                <a:cs typeface="Arial" pitchFamily="34" charset="0"/>
              </a:rPr>
              <a:t>The </a:t>
            </a:r>
            <a:r>
              <a:rPr lang="en-US" dirty="0">
                <a:solidFill>
                  <a:srgbClr val="00B050"/>
                </a:solidFill>
                <a:ea typeface="HG Mincho Light J" pitchFamily="2"/>
                <a:cs typeface="Arial" pitchFamily="34" charset="0"/>
              </a:rPr>
              <a:t>parent process </a:t>
            </a:r>
            <a:r>
              <a:rPr lang="en-US" dirty="0">
                <a:solidFill>
                  <a:srgbClr val="000000"/>
                </a:solidFill>
                <a:ea typeface="HG Mincho Light J" pitchFamily="2"/>
                <a:cs typeface="Arial" pitchFamily="34" charset="0"/>
              </a:rPr>
              <a:t>receives the PID of the newly created child process.</a:t>
            </a:r>
          </a:p>
          <a:p>
            <a:pPr lvl="2">
              <a:spcBef>
                <a:spcPts val="0"/>
              </a:spcBef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ea typeface="HG Mincho Light J" pitchFamily="2"/>
                <a:cs typeface="Arial" pitchFamily="34" charset="0"/>
              </a:rPr>
              <a:t>The </a:t>
            </a:r>
            <a:r>
              <a:rPr lang="en-US" dirty="0">
                <a:solidFill>
                  <a:srgbClr val="00B050"/>
                </a:solidFill>
                <a:ea typeface="HG Mincho Light J" pitchFamily="2"/>
                <a:cs typeface="Arial" pitchFamily="34" charset="0"/>
              </a:rPr>
              <a:t>child process </a:t>
            </a:r>
            <a:r>
              <a:rPr lang="en-US" dirty="0">
                <a:solidFill>
                  <a:srgbClr val="000000"/>
                </a:solidFill>
                <a:ea typeface="HG Mincho Light J" pitchFamily="2"/>
                <a:cs typeface="Arial" pitchFamily="34" charset="0"/>
              </a:rPr>
              <a:t>receives a PID of zero.</a:t>
            </a:r>
          </a:p>
          <a:p>
            <a:pPr lvl="1">
              <a:spcBef>
                <a:spcPts val="0"/>
              </a:spcBef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dirty="0">
                <a:solidFill>
                  <a:srgbClr val="000000"/>
                </a:solidFill>
                <a:ea typeface="HG Mincho Light J" pitchFamily="2"/>
                <a:cs typeface="Arial" pitchFamily="34" charset="0"/>
              </a:rPr>
              <a:t>Both the parent and child receive duplicate (but separate) copies of the process's memory and resources.</a:t>
            </a:r>
          </a:p>
          <a:p>
            <a:pPr lvl="1">
              <a:spcBef>
                <a:spcPts val="0"/>
              </a:spcBef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dirty="0">
                <a:solidFill>
                  <a:srgbClr val="000000"/>
                </a:solidFill>
                <a:ea typeface="HG Mincho Light J" pitchFamily="2"/>
                <a:cs typeface="Arial" pitchFamily="34" charset="0"/>
              </a:rPr>
              <a:t>They do not share open files or other resources directly.</a:t>
            </a:r>
          </a:p>
          <a:p>
            <a:pPr lvl="1">
              <a:spcBef>
                <a:spcPts val="0"/>
              </a:spcBef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dirty="0">
                <a:solidFill>
                  <a:srgbClr val="000000"/>
                </a:solidFill>
                <a:ea typeface="HG Mincho Light J" pitchFamily="2"/>
                <a:cs typeface="Arial" pitchFamily="34" charset="0"/>
              </a:rPr>
              <a:t>Communication between the parent and child is similar to communication between any two separate processes, and thus requires Inter-Process Communication (IPC).</a:t>
            </a:r>
            <a:endParaRPr lang="en-GB" sz="2000" dirty="0">
              <a:solidFill>
                <a:srgbClr val="000000"/>
              </a:solidFill>
              <a:ea typeface="HG Mincho Light J" pitchFamily="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328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fork</a:t>
            </a:r>
            <a:r>
              <a:rPr lang="en-US" dirty="0"/>
              <a:t>()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GB" sz="2000" b="1" kern="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&lt;sys/</a:t>
            </a:r>
            <a:r>
              <a:rPr lang="en-GB" sz="2000" b="1" kern="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wait.h</a:t>
            </a: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SG" sz="2000" b="1" kern="0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GB" sz="2000" b="1" kern="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unistd.h</a:t>
            </a: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None/>
            </a:pPr>
            <a:endParaRPr lang="en-SG" sz="2000" b="1" kern="0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GB" sz="2000" b="1" kern="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GB" sz="2000" b="1" kern="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kern="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char *</a:t>
            </a:r>
            <a:r>
              <a:rPr lang="en-GB" sz="2000" b="1" kern="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[]) </a:t>
            </a:r>
            <a:endParaRPr lang="en-SG" sz="2000" b="1" kern="0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GB" sz="2000" b="1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pid_t</a:t>
            </a:r>
            <a:r>
              <a:rPr lang="en-GB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ch_pid</a:t>
            </a: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SG" sz="2000" b="1" kern="0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2000" b="1" kern="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status;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None/>
            </a:pPr>
            <a:endParaRPr lang="en-SG" sz="2000" b="1" kern="0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2000" b="1" kern="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("\n This program demonstrates the fork”);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None/>
            </a:pPr>
            <a:endParaRPr lang="en-SG" sz="2000" b="1" kern="0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2000" b="1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ch_pid</a:t>
            </a:r>
            <a:r>
              <a:rPr lang="en-GB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fork()</a:t>
            </a: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SG" sz="2000" b="1" kern="0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SG" sz="2000" b="1" kern="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20871" y="108418"/>
            <a:ext cx="6263253" cy="25853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#include &lt;</a:t>
            </a:r>
            <a:r>
              <a:rPr lang="en-US" dirty="0" err="1"/>
              <a:t>unistd.h</a:t>
            </a:r>
            <a:r>
              <a:rPr lang="en-US" dirty="0"/>
              <a:t>&gt;</a:t>
            </a:r>
          </a:p>
          <a:p>
            <a:r>
              <a:rPr lang="en-US" dirty="0" err="1"/>
              <a:t>pid_t</a:t>
            </a:r>
            <a:r>
              <a:rPr lang="en-US" dirty="0"/>
              <a:t> fork(void);</a:t>
            </a:r>
          </a:p>
          <a:p>
            <a:r>
              <a:rPr lang="en-US" dirty="0"/>
              <a:t>                     parent process: return child process ID or -1 on error</a:t>
            </a:r>
          </a:p>
          <a:p>
            <a:r>
              <a:rPr lang="en-US" dirty="0"/>
              <a:t>                     child process: return 0</a:t>
            </a:r>
          </a:p>
          <a:p>
            <a:endParaRPr lang="en-US" dirty="0"/>
          </a:p>
          <a:p>
            <a:r>
              <a:rPr lang="en-US" dirty="0"/>
              <a:t>#include &lt;sys/</a:t>
            </a:r>
            <a:r>
              <a:rPr lang="en-US" dirty="0" err="1"/>
              <a:t>wait.h</a:t>
            </a:r>
            <a:r>
              <a:rPr lang="en-US" dirty="0"/>
              <a:t>&gt;</a:t>
            </a:r>
          </a:p>
          <a:p>
            <a:r>
              <a:rPr lang="en-US" dirty="0" err="1"/>
              <a:t>pid_t</a:t>
            </a:r>
            <a:r>
              <a:rPr lang="en-US" dirty="0"/>
              <a:t> wait (</a:t>
            </a:r>
            <a:r>
              <a:rPr lang="en-US" dirty="0" err="1"/>
              <a:t>int</a:t>
            </a:r>
            <a:r>
              <a:rPr lang="en-US" dirty="0"/>
              <a:t> *status);</a:t>
            </a:r>
          </a:p>
          <a:p>
            <a:r>
              <a:rPr lang="en-US" dirty="0"/>
              <a:t>                     returns process ID of terminated child or -1 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33727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GB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GB" sz="2000" b="1" kern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ch_pid</a:t>
            </a:r>
            <a:r>
              <a:rPr lang="en-GB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0)</a:t>
            </a:r>
            <a:r>
              <a:rPr lang="en-GB" sz="2000" b="1" kern="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{//</a:t>
            </a: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parent process continue here</a:t>
            </a:r>
            <a:endParaRPr lang="en-SG" sz="2000" b="1" kern="0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:        // parent executes all code here</a:t>
            </a:r>
            <a:endParaRPr lang="en-SG" sz="2000" b="1" kern="0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GB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wait(&amp;status); </a:t>
            </a: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//parent waits for child to return   </a:t>
            </a:r>
            <a:endParaRPr lang="en-SG" sz="2000" b="1" kern="0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endParaRPr lang="en-SG" sz="900" b="1" kern="0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GB" sz="20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{// </a:t>
            </a:r>
            <a:r>
              <a:rPr lang="en-GB" sz="20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ch_pid</a:t>
            </a:r>
            <a:r>
              <a:rPr lang="en-GB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 =&gt; this is the child process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GB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 // child executes all code starting from here</a:t>
            </a:r>
            <a:endParaRPr lang="en-SG" sz="2000" b="1" kern="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("my </a:t>
            </a:r>
            <a:r>
              <a:rPr lang="en-US" sz="20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=%d\n", </a:t>
            </a:r>
            <a:r>
              <a:rPr lang="en-US" sz="2000" b="1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getpid</a:t>
            </a:r>
            <a:r>
              <a:rPr lang="en-US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 </a:t>
            </a:r>
            <a:endParaRPr lang="en-SG" sz="2000" b="1" kern="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GB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: 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GB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  return 0; // child terminated itself here</a:t>
            </a:r>
            <a:endParaRPr lang="en-SG" sz="2000" b="1" kern="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GB" sz="20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Parent continue from here after exit from wait()</a:t>
            </a:r>
            <a:endParaRPr lang="en-SG" sz="2000" b="1" kern="0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2000" b="1" kern="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GB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  Parent here - Done   ");</a:t>
            </a:r>
            <a:endParaRPr lang="en-SG" sz="2000" b="1" kern="0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sz="2000" b="1" kern="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SG" sz="2000" b="1" kern="0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53320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Multitasking by Processes 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00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SG" sz="2400" dirty="0"/>
              <a:t>The main disadvantage of multitasking by using multiple processes</a:t>
            </a:r>
            <a:endParaRPr lang="en-SG" sz="2400" dirty="0">
              <a:ea typeface="HG Mincho Light J" pitchFamily="2"/>
              <a:cs typeface="Arial" pitchFamily="34" charset="0"/>
            </a:endParaRPr>
          </a:p>
          <a:p>
            <a:pPr marL="378900" indent="-342900">
              <a:spcBef>
                <a:spcPts val="600"/>
              </a:spcBef>
            </a:pPr>
            <a:r>
              <a:rPr lang="en-SG" sz="2400" dirty="0">
                <a:ea typeface="HG Mincho Light J" pitchFamily="2"/>
                <a:cs typeface="Arial" pitchFamily="34" charset="0"/>
              </a:rPr>
              <a:t>inconveniences incurred in passing of messages and sharing of data </a:t>
            </a:r>
          </a:p>
          <a:p>
            <a:pPr marL="738188" indent="-269875">
              <a:spcBef>
                <a:spcPts val="600"/>
              </a:spcBef>
              <a:spcAft>
                <a:spcPts val="0"/>
              </a:spcAft>
            </a:pPr>
            <a:r>
              <a:rPr lang="en-US" sz="2400" dirty="0"/>
              <a:t>In Linux, IPC can be done by using pipe, named-pipe and socket - more on these later </a:t>
            </a:r>
          </a:p>
          <a:p>
            <a:pPr marL="36000" indent="0">
              <a:spcBef>
                <a:spcPts val="600"/>
              </a:spcBef>
              <a:spcAft>
                <a:spcPts val="0"/>
              </a:spcAft>
            </a:pPr>
            <a:endParaRPr lang="en-GB" sz="2400" dirty="0">
              <a:solidFill>
                <a:srgbClr val="002060"/>
              </a:solidFill>
              <a:ea typeface="HG Mincho Light J" pitchFamily="2"/>
              <a:cs typeface="Arial" pitchFamily="34" charset="0"/>
            </a:endParaRPr>
          </a:p>
          <a:p>
            <a:pPr marL="3600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 dirty="0">
                <a:ea typeface="HG Mincho Light J" pitchFamily="2"/>
                <a:cs typeface="Arial" pitchFamily="34" charset="0"/>
              </a:rPr>
              <a:t>As such it is often better to have a </a:t>
            </a:r>
            <a:r>
              <a:rPr lang="en-GB" sz="2400" dirty="0">
                <a:solidFill>
                  <a:srgbClr val="FF0000"/>
                </a:solidFill>
                <a:ea typeface="HG Mincho Light J" pitchFamily="2"/>
                <a:cs typeface="Arial" pitchFamily="34" charset="0"/>
              </a:rPr>
              <a:t>single process </a:t>
            </a:r>
            <a:r>
              <a:rPr lang="en-GB" sz="2400" dirty="0">
                <a:ea typeface="HG Mincho Light J" pitchFamily="2"/>
                <a:cs typeface="Arial" pitchFamily="34" charset="0"/>
              </a:rPr>
              <a:t>to</a:t>
            </a:r>
            <a:r>
              <a:rPr lang="en-GB" sz="2400" dirty="0">
                <a:solidFill>
                  <a:srgbClr val="002060"/>
                </a:solidFill>
                <a:ea typeface="HG Mincho Light J" pitchFamily="2"/>
                <a:cs typeface="Arial" pitchFamily="34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ea typeface="HG Mincho Light J" pitchFamily="2"/>
                <a:cs typeface="Arial" pitchFamily="34" charset="0"/>
              </a:rPr>
              <a:t>launch multiple tasks </a:t>
            </a:r>
          </a:p>
          <a:p>
            <a:pPr lvl="0">
              <a:spcBef>
                <a:spcPts val="60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400" dirty="0">
                <a:ea typeface="HG Mincho Light J" pitchFamily="2"/>
                <a:cs typeface="Arial" pitchFamily="34" charset="0"/>
              </a:rPr>
              <a:t>which allow the use of shared memory to enable simpler task communication and sharing of data/parameters</a:t>
            </a:r>
          </a:p>
          <a:p>
            <a:pPr lvl="0">
              <a:spcBef>
                <a:spcPts val="60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400" dirty="0">
                <a:ea typeface="HG Mincho Light J" pitchFamily="2"/>
                <a:cs typeface="Arial" pitchFamily="34" charset="0"/>
              </a:rPr>
              <a:t>the most common technique is the </a:t>
            </a:r>
            <a:r>
              <a:rPr lang="en-GB" sz="2400" dirty="0">
                <a:solidFill>
                  <a:srgbClr val="FF0000"/>
                </a:solidFill>
                <a:ea typeface="HG Mincho Light J" pitchFamily="2"/>
                <a:cs typeface="Arial" pitchFamily="34" charset="0"/>
              </a:rPr>
              <a:t>Multithreading</a:t>
            </a:r>
            <a:r>
              <a:rPr lang="en-GB" sz="2400" dirty="0">
                <a:solidFill>
                  <a:srgbClr val="002060"/>
                </a:solidFill>
                <a:ea typeface="HG Mincho Light J" pitchFamily="2"/>
                <a:cs typeface="Arial" pitchFamily="34" charset="0"/>
              </a:rPr>
              <a:t>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69665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Multitasking by Processes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On Linux, multiprocessing can also be implemented by using </a:t>
            </a:r>
            <a:r>
              <a:rPr lang="en-US" dirty="0">
                <a:solidFill>
                  <a:srgbClr val="92D050"/>
                </a:solidFill>
              </a:rPr>
              <a:t>clone() </a:t>
            </a:r>
          </a:p>
          <a:p>
            <a:pPr lvl="1"/>
            <a:r>
              <a:rPr lang="en-US" dirty="0"/>
              <a:t>a </a:t>
            </a:r>
            <a:r>
              <a:rPr lang="en-US" dirty="0" err="1"/>
              <a:t>generalised</a:t>
            </a:r>
            <a:r>
              <a:rPr lang="en-US" dirty="0"/>
              <a:t> form of fork()</a:t>
            </a:r>
          </a:p>
          <a:p>
            <a:pPr lvl="1"/>
            <a:r>
              <a:rPr lang="en-US" dirty="0"/>
              <a:t>allows the caller to specify which resources are shared between the calling process and the newly created process</a:t>
            </a:r>
          </a:p>
          <a:p>
            <a:pPr lvl="1"/>
            <a:r>
              <a:rPr lang="en-US" dirty="0"/>
              <a:t>The caller can control whether or not the two processes share the virtual address space (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CLONE_VM</a:t>
            </a:r>
            <a:r>
              <a:rPr lang="en-SG" dirty="0">
                <a:cs typeface="Courier New" panose="02070309020205020404" pitchFamily="49" charset="0"/>
              </a:rPr>
              <a:t>), </a:t>
            </a:r>
            <a:r>
              <a:rPr lang="en-US" dirty="0"/>
              <a:t>the table of file descriptors </a:t>
            </a:r>
            <a:r>
              <a:rPr lang="en-SG" dirty="0">
                <a:cs typeface="Courier New" panose="02070309020205020404" pitchFamily="49" charset="0"/>
              </a:rPr>
              <a:t>(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CLONE_FS</a:t>
            </a:r>
            <a:r>
              <a:rPr lang="en-SG" dirty="0">
                <a:cs typeface="Courier New" panose="02070309020205020404" pitchFamily="49" charset="0"/>
              </a:rPr>
              <a:t>)</a:t>
            </a:r>
            <a:r>
              <a:rPr lang="en-US" dirty="0"/>
              <a:t>, and the table of signal handlers 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CLONE_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SIGHAND</a:t>
            </a:r>
            <a:r>
              <a:rPr lang="en-SG" dirty="0">
                <a:cs typeface="Courier New" panose="02070309020205020404" pitchFamily="49" charset="0"/>
              </a:rPr>
              <a:t>) etc.</a:t>
            </a:r>
            <a:endParaRPr lang="en-US" dirty="0"/>
          </a:p>
          <a:p>
            <a:pPr lvl="2"/>
            <a:r>
              <a:rPr lang="en-US" dirty="0"/>
              <a:t>which means the child can continue to use any opened file, shared memory resources and so on.</a:t>
            </a:r>
          </a:p>
          <a:p>
            <a:pPr lvl="1"/>
            <a:r>
              <a:rPr lang="en-US" dirty="0"/>
              <a:t>Every new task gets a unique PID unless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CLONE_THREAD</a:t>
            </a:r>
            <a:r>
              <a:rPr lang="en-US" dirty="0"/>
              <a:t> is set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is the method used to </a:t>
            </a:r>
            <a:r>
              <a:rPr lang="en-US" dirty="0">
                <a:solidFill>
                  <a:srgbClr val="92D050"/>
                </a:solidFill>
              </a:rPr>
              <a:t>spawn new process(s)</a:t>
            </a:r>
            <a:r>
              <a:rPr lang="en-US" dirty="0"/>
              <a:t> in a running program but is only applicable to Linux/Unix platform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99055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clone()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SG" sz="4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#define _GNU_SOURC</a:t>
            </a: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pPr marL="0" indent="0">
              <a:buNone/>
            </a:pP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SG" sz="4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SG" sz="4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SG" sz="4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sched.h</a:t>
            </a:r>
            <a:r>
              <a:rPr lang="en-SG" sz="4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SG" sz="4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signal.h</a:t>
            </a: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&lt;sys/</a:t>
            </a:r>
            <a:r>
              <a:rPr lang="en-SG" sz="4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wait.h</a:t>
            </a: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SG" sz="4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//Stack Size is 4kb</a:t>
            </a:r>
            <a:endParaRPr lang="en-SG" sz="4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#define STACK_SIZE 4*1024</a:t>
            </a:r>
          </a:p>
          <a:p>
            <a:pPr marL="0" indent="0">
              <a:buNone/>
            </a:pPr>
            <a:r>
              <a:rPr lang="en-SG" sz="4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4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thread_func</a:t>
            </a: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(void *</a:t>
            </a:r>
            <a:r>
              <a:rPr lang="en-SG" sz="4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marL="0" indent="0">
              <a:buNone/>
            </a:pP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SG" sz="4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("Hello from thread! Thread PID: %d\n",</a:t>
            </a:r>
            <a:r>
              <a:rPr lang="en-SG" sz="4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getpid</a:t>
            </a: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0" indent="0">
              <a:buNone/>
            </a:pP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return 0;</a:t>
            </a:r>
          </a:p>
          <a:p>
            <a:pPr marL="0" indent="0">
              <a:buNone/>
            </a:pP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SG" sz="4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main(){</a:t>
            </a:r>
          </a:p>
          <a:p>
            <a:pPr marL="0" indent="0">
              <a:buNone/>
            </a:pP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char *stack = </a:t>
            </a:r>
            <a:r>
              <a:rPr lang="en-SG" sz="4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(STACK_SIZE);</a:t>
            </a:r>
          </a:p>
          <a:p>
            <a:pPr marL="0" indent="0">
              <a:buNone/>
            </a:pP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SG" sz="4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pid_t</a:t>
            </a: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4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clone(</a:t>
            </a:r>
            <a:r>
              <a:rPr lang="en-SG" sz="4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thread_func</a:t>
            </a: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SG" sz="4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stack+STACK_SIZE</a:t>
            </a: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SG" sz="4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CLONE_VM | CLONE_THREAD </a:t>
            </a: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| CLONE_FS | SIGCHLD, NULL);</a:t>
            </a:r>
          </a:p>
          <a:p>
            <a:pPr marL="0" indent="0">
              <a:buNone/>
            </a:pP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wait(NULL);</a:t>
            </a:r>
          </a:p>
          <a:p>
            <a:pPr marL="0" indent="0">
              <a:buNone/>
            </a:pP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SG" sz="4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("Done\n");</a:t>
            </a:r>
          </a:p>
          <a:p>
            <a:pPr marL="0" indent="0">
              <a:buNone/>
            </a:pP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free(stack);</a:t>
            </a:r>
          </a:p>
          <a:p>
            <a:pPr marL="0" indent="0">
              <a:buNone/>
            </a:pP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return 0;</a:t>
            </a:r>
          </a:p>
          <a:p>
            <a:pPr marL="0" indent="0">
              <a:buNone/>
            </a:pPr>
            <a:r>
              <a:rPr lang="en-SG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317112" y="139424"/>
            <a:ext cx="8600824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392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#define _GNU_SOURCE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181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sched.h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181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clone(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(*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006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)(void *_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Nullable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 void *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006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stack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006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flags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181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 *_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Nullable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006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...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rgbClr val="502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181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pid_t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*_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Nullable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006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parent_tid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181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1818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	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 *_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Nullable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006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tls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181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1818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	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pid_t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*_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Nullable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006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child_tid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181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*/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02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kumimoji="0" lang="en-US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915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Executing New Program with exec()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exec</a:t>
            </a:r>
            <a:r>
              <a:rPr lang="en-US" dirty="0"/>
              <a:t>() replaces the current process with a new program.</a:t>
            </a:r>
          </a:p>
          <a:p>
            <a:r>
              <a:rPr lang="en-US" dirty="0"/>
              <a:t>The code, data, heap, and stack of the calling process are overwritten by the new program</a:t>
            </a:r>
          </a:p>
          <a:p>
            <a:pPr lvl="1"/>
            <a:r>
              <a:rPr lang="en-US" dirty="0"/>
              <a:t>exec() is typically called by the child process immediately after a fork() to run a different program</a:t>
            </a:r>
          </a:p>
          <a:p>
            <a:r>
              <a:rPr lang="en-US" dirty="0"/>
              <a:t>The process ID remains the same, but the program changes.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88092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Variants of exec()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SG" dirty="0"/>
              <a:t>Variants: </a:t>
            </a:r>
            <a:r>
              <a:rPr lang="en-SG" dirty="0" err="1"/>
              <a:t>execl</a:t>
            </a:r>
            <a:r>
              <a:rPr lang="en-SG" dirty="0"/>
              <a:t>(), </a:t>
            </a:r>
            <a:r>
              <a:rPr lang="en-SG" dirty="0" err="1"/>
              <a:t>execlp</a:t>
            </a:r>
            <a:r>
              <a:rPr lang="en-SG" dirty="0"/>
              <a:t>(), </a:t>
            </a:r>
            <a:r>
              <a:rPr lang="en-SG" dirty="0" err="1"/>
              <a:t>execv</a:t>
            </a:r>
            <a:r>
              <a:rPr lang="en-SG" dirty="0"/>
              <a:t>(), </a:t>
            </a:r>
            <a:r>
              <a:rPr lang="en-SG" dirty="0" err="1"/>
              <a:t>execvp</a:t>
            </a:r>
            <a:r>
              <a:rPr lang="en-SG" dirty="0"/>
              <a:t>(), </a:t>
            </a:r>
            <a:r>
              <a:rPr lang="en-SG" dirty="0" err="1"/>
              <a:t>execle</a:t>
            </a:r>
            <a:r>
              <a:rPr lang="en-SG" dirty="0"/>
              <a:t>(), </a:t>
            </a:r>
            <a:r>
              <a:rPr lang="en-SG" dirty="0" err="1"/>
              <a:t>execve</a:t>
            </a:r>
            <a:r>
              <a:rPr lang="en-SG" dirty="0"/>
              <a:t>()</a:t>
            </a:r>
          </a:p>
          <a:p>
            <a:pPr lvl="1"/>
            <a:r>
              <a:rPr lang="en-SG" dirty="0"/>
              <a:t>Explanation of variants:</a:t>
            </a:r>
          </a:p>
          <a:p>
            <a:pPr lvl="2"/>
            <a:r>
              <a:rPr lang="en-SG" dirty="0" err="1">
                <a:solidFill>
                  <a:srgbClr val="00B050"/>
                </a:solidFill>
              </a:rPr>
              <a:t>execl</a:t>
            </a:r>
            <a:r>
              <a:rPr lang="en-SG" dirty="0"/>
              <a:t>(</a:t>
            </a:r>
            <a:r>
              <a:rPr lang="en-SG" dirty="0" err="1"/>
              <a:t>const</a:t>
            </a:r>
            <a:r>
              <a:rPr lang="en-SG" dirty="0"/>
              <a:t> char *path, </a:t>
            </a:r>
            <a:r>
              <a:rPr lang="en-SG" dirty="0" err="1"/>
              <a:t>const</a:t>
            </a:r>
            <a:r>
              <a:rPr lang="en-SG" dirty="0"/>
              <a:t> char *arg0, ..., NULL): List-based, specifying full path.</a:t>
            </a:r>
          </a:p>
          <a:p>
            <a:pPr lvl="2"/>
            <a:r>
              <a:rPr lang="en-SG" dirty="0" err="1">
                <a:solidFill>
                  <a:srgbClr val="00B050"/>
                </a:solidFill>
              </a:rPr>
              <a:t>execlp</a:t>
            </a:r>
            <a:r>
              <a:rPr lang="en-SG" dirty="0"/>
              <a:t>(</a:t>
            </a:r>
            <a:r>
              <a:rPr lang="en-SG" dirty="0" err="1"/>
              <a:t>const</a:t>
            </a:r>
            <a:r>
              <a:rPr lang="en-SG" dirty="0"/>
              <a:t> char *file, </a:t>
            </a:r>
            <a:r>
              <a:rPr lang="en-SG" dirty="0" err="1"/>
              <a:t>const</a:t>
            </a:r>
            <a:r>
              <a:rPr lang="en-SG" dirty="0"/>
              <a:t> char *arg0, ..., NULL): List-based, searches in PATH.</a:t>
            </a:r>
          </a:p>
          <a:p>
            <a:pPr lvl="2"/>
            <a:r>
              <a:rPr lang="en-SG" dirty="0" err="1">
                <a:solidFill>
                  <a:srgbClr val="00B050"/>
                </a:solidFill>
              </a:rPr>
              <a:t>execv</a:t>
            </a:r>
            <a:r>
              <a:rPr lang="en-SG" dirty="0"/>
              <a:t>(</a:t>
            </a:r>
            <a:r>
              <a:rPr lang="en-SG" dirty="0" err="1"/>
              <a:t>const</a:t>
            </a:r>
            <a:r>
              <a:rPr lang="en-SG" dirty="0"/>
              <a:t> char *path, char *</a:t>
            </a:r>
            <a:r>
              <a:rPr lang="en-SG" dirty="0" err="1"/>
              <a:t>const</a:t>
            </a:r>
            <a:r>
              <a:rPr lang="en-SG" dirty="0"/>
              <a:t> </a:t>
            </a:r>
            <a:r>
              <a:rPr lang="en-SG" dirty="0" err="1"/>
              <a:t>argv</a:t>
            </a:r>
            <a:r>
              <a:rPr lang="en-SG" dirty="0"/>
              <a:t>[]): Array-based, specifying full path.</a:t>
            </a:r>
          </a:p>
          <a:p>
            <a:pPr lvl="2"/>
            <a:r>
              <a:rPr lang="en-SG" dirty="0" err="1">
                <a:solidFill>
                  <a:srgbClr val="00B050"/>
                </a:solidFill>
              </a:rPr>
              <a:t>execvp</a:t>
            </a:r>
            <a:r>
              <a:rPr lang="en-SG" dirty="0"/>
              <a:t>(</a:t>
            </a:r>
            <a:r>
              <a:rPr lang="en-SG" dirty="0" err="1"/>
              <a:t>const</a:t>
            </a:r>
            <a:r>
              <a:rPr lang="en-SG" dirty="0"/>
              <a:t> char *file, char *</a:t>
            </a:r>
            <a:r>
              <a:rPr lang="en-SG" dirty="0" err="1"/>
              <a:t>const</a:t>
            </a:r>
            <a:r>
              <a:rPr lang="en-SG" dirty="0"/>
              <a:t> </a:t>
            </a:r>
            <a:r>
              <a:rPr lang="en-SG" dirty="0" err="1"/>
              <a:t>argv</a:t>
            </a:r>
            <a:r>
              <a:rPr lang="en-SG" dirty="0"/>
              <a:t>[]): Array-based, searches in PATH.</a:t>
            </a:r>
          </a:p>
          <a:p>
            <a:pPr lvl="2"/>
            <a:r>
              <a:rPr lang="en-SG" dirty="0" err="1">
                <a:solidFill>
                  <a:srgbClr val="00B050"/>
                </a:solidFill>
              </a:rPr>
              <a:t>execle</a:t>
            </a:r>
            <a:r>
              <a:rPr lang="en-SG" dirty="0"/>
              <a:t>(</a:t>
            </a:r>
            <a:r>
              <a:rPr lang="en-SG" dirty="0" err="1"/>
              <a:t>const</a:t>
            </a:r>
            <a:r>
              <a:rPr lang="en-SG" dirty="0"/>
              <a:t> char *path, </a:t>
            </a:r>
            <a:r>
              <a:rPr lang="en-SG" dirty="0" err="1"/>
              <a:t>const</a:t>
            </a:r>
            <a:r>
              <a:rPr lang="en-SG" dirty="0"/>
              <a:t> char *arg0, ..., NULL, char *</a:t>
            </a:r>
            <a:r>
              <a:rPr lang="en-SG" dirty="0" err="1"/>
              <a:t>const</a:t>
            </a:r>
            <a:r>
              <a:rPr lang="en-SG" dirty="0"/>
              <a:t> </a:t>
            </a:r>
            <a:r>
              <a:rPr lang="en-SG" dirty="0" err="1"/>
              <a:t>envp</a:t>
            </a:r>
            <a:r>
              <a:rPr lang="en-SG" dirty="0"/>
              <a:t>[]): List-based with environment variables.</a:t>
            </a:r>
          </a:p>
          <a:p>
            <a:pPr lvl="2"/>
            <a:r>
              <a:rPr lang="en-SG" dirty="0" err="1">
                <a:solidFill>
                  <a:srgbClr val="00B050"/>
                </a:solidFill>
              </a:rPr>
              <a:t>execve</a:t>
            </a:r>
            <a:r>
              <a:rPr lang="en-SG" dirty="0"/>
              <a:t>(</a:t>
            </a:r>
            <a:r>
              <a:rPr lang="en-SG" dirty="0" err="1"/>
              <a:t>const</a:t>
            </a:r>
            <a:r>
              <a:rPr lang="en-SG" dirty="0"/>
              <a:t> char *path, char *</a:t>
            </a:r>
            <a:r>
              <a:rPr lang="en-SG" dirty="0" err="1"/>
              <a:t>const</a:t>
            </a:r>
            <a:r>
              <a:rPr lang="en-SG" dirty="0"/>
              <a:t> </a:t>
            </a:r>
            <a:r>
              <a:rPr lang="en-SG" dirty="0" err="1"/>
              <a:t>argv</a:t>
            </a:r>
            <a:r>
              <a:rPr lang="en-SG" dirty="0"/>
              <a:t>[], char *</a:t>
            </a:r>
            <a:r>
              <a:rPr lang="en-SG" dirty="0" err="1"/>
              <a:t>const</a:t>
            </a:r>
            <a:r>
              <a:rPr lang="en-SG" dirty="0"/>
              <a:t> </a:t>
            </a:r>
            <a:r>
              <a:rPr lang="en-SG" dirty="0" err="1"/>
              <a:t>envp</a:t>
            </a:r>
            <a:r>
              <a:rPr lang="en-SG" dirty="0"/>
              <a:t>[]): Array-based with environment variables.</a:t>
            </a:r>
          </a:p>
          <a:p>
            <a:pPr lvl="1"/>
            <a:r>
              <a:rPr lang="en-US" dirty="0"/>
              <a:t>Arguments:</a:t>
            </a:r>
            <a:endParaRPr lang="en-SG" dirty="0"/>
          </a:p>
          <a:p>
            <a:pPr lvl="2"/>
            <a:r>
              <a:rPr lang="en-US" dirty="0"/>
              <a:t>path or file: The path to the executable or filename if searching in PATH.</a:t>
            </a:r>
          </a:p>
          <a:p>
            <a:pPr lvl="2"/>
            <a:r>
              <a:rPr lang="en-US" dirty="0"/>
              <a:t>arg0, arg1, ..., NULL: Command-line arguments, with arg0 conventionally being the name of the program.</a:t>
            </a:r>
          </a:p>
          <a:p>
            <a:pPr lvl="2"/>
            <a:r>
              <a:rPr lang="en-US" dirty="0" err="1"/>
              <a:t>argv</a:t>
            </a:r>
            <a:r>
              <a:rPr lang="en-US" dirty="0"/>
              <a:t>[]: An array of arguments, ending with NULL.</a:t>
            </a:r>
          </a:p>
          <a:p>
            <a:pPr lvl="2"/>
            <a:r>
              <a:rPr lang="en-US" dirty="0" err="1"/>
              <a:t>envp</a:t>
            </a:r>
            <a:r>
              <a:rPr lang="en-US" dirty="0"/>
              <a:t>[]: An array of environment variables, ending with NULL.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43726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</a:t>
            </a:r>
            <a:r>
              <a:rPr lang="en-US" dirty="0" err="1"/>
              <a:t>execvp</a:t>
            </a:r>
            <a:r>
              <a:rPr lang="en-US" dirty="0"/>
              <a:t>()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SG" dirty="0"/>
              <a:t>#include &lt;</a:t>
            </a:r>
            <a:r>
              <a:rPr lang="en-SG" dirty="0" err="1"/>
              <a:t>stdio.h</a:t>
            </a:r>
            <a:r>
              <a:rPr lang="en-SG" dirty="0"/>
              <a:t>&gt;</a:t>
            </a:r>
          </a:p>
          <a:p>
            <a:pPr marL="0" indent="0">
              <a:buNone/>
            </a:pPr>
            <a:r>
              <a:rPr lang="en-SG" dirty="0"/>
              <a:t>#include &lt;</a:t>
            </a:r>
            <a:r>
              <a:rPr lang="en-SG" dirty="0" err="1"/>
              <a:t>stdlib.h</a:t>
            </a:r>
            <a:r>
              <a:rPr lang="en-SG" dirty="0"/>
              <a:t>&gt;</a:t>
            </a:r>
          </a:p>
          <a:p>
            <a:pPr marL="0" indent="0">
              <a:buNone/>
            </a:pPr>
            <a:r>
              <a:rPr lang="en-SG" dirty="0"/>
              <a:t>#include &lt;</a:t>
            </a:r>
            <a:r>
              <a:rPr lang="en-SG" dirty="0" err="1"/>
              <a:t>unistd.h</a:t>
            </a:r>
            <a:r>
              <a:rPr lang="en-SG" dirty="0"/>
              <a:t>&gt;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 err="1"/>
              <a:t>int</a:t>
            </a:r>
            <a:r>
              <a:rPr lang="en-SG" dirty="0"/>
              <a:t> main() {</a:t>
            </a:r>
          </a:p>
          <a:p>
            <a:pPr marL="0" indent="0">
              <a:buNone/>
            </a:pPr>
            <a:r>
              <a:rPr lang="en-SG" dirty="0"/>
              <a:t>    </a:t>
            </a:r>
            <a:r>
              <a:rPr lang="en-SG" dirty="0" err="1"/>
              <a:t>printf</a:t>
            </a:r>
            <a:r>
              <a:rPr lang="en-SG" dirty="0"/>
              <a:t>("Before exec(), PID=%d\n",</a:t>
            </a:r>
            <a:r>
              <a:rPr lang="en-SG" dirty="0" err="1"/>
              <a:t>getpid</a:t>
            </a:r>
            <a:r>
              <a:rPr lang="en-SG" dirty="0"/>
              <a:t>());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/>
              <a:t>    char *</a:t>
            </a:r>
            <a:r>
              <a:rPr lang="en-SG" dirty="0" err="1"/>
              <a:t>args</a:t>
            </a:r>
            <a:r>
              <a:rPr lang="en-SG" dirty="0"/>
              <a:t>[] = { NULL};</a:t>
            </a:r>
          </a:p>
          <a:p>
            <a:pPr marL="0" indent="0">
              <a:buNone/>
            </a:pPr>
            <a:r>
              <a:rPr lang="en-SG" dirty="0"/>
              <a:t>    </a:t>
            </a:r>
            <a:r>
              <a:rPr lang="en-SG" dirty="0" err="1"/>
              <a:t>execvp</a:t>
            </a:r>
            <a:r>
              <a:rPr lang="en-SG" dirty="0"/>
              <a:t>("./example3", </a:t>
            </a:r>
            <a:r>
              <a:rPr lang="en-SG" dirty="0" err="1"/>
              <a:t>args</a:t>
            </a:r>
            <a:r>
              <a:rPr lang="en-SG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This line will only execute if </a:t>
            </a:r>
            <a:r>
              <a:rPr lang="en-US" dirty="0" err="1"/>
              <a:t>execvp</a:t>
            </a:r>
            <a:r>
              <a:rPr lang="en-US" dirty="0"/>
              <a:t>() fails</a:t>
            </a:r>
            <a:endParaRPr lang="en-SG" dirty="0"/>
          </a:p>
          <a:p>
            <a:pPr marL="0" indent="0">
              <a:buNone/>
            </a:pPr>
            <a:r>
              <a:rPr lang="en-SG" dirty="0"/>
              <a:t>    </a:t>
            </a:r>
            <a:r>
              <a:rPr lang="en-SG" dirty="0" err="1"/>
              <a:t>printf</a:t>
            </a:r>
            <a:r>
              <a:rPr lang="en-SG" dirty="0"/>
              <a:t>("After exec(), PID=%d\n",</a:t>
            </a:r>
            <a:r>
              <a:rPr lang="en-SG" dirty="0" err="1"/>
              <a:t>getpid</a:t>
            </a:r>
            <a:r>
              <a:rPr lang="en-SG" dirty="0"/>
              <a:t>());</a:t>
            </a:r>
          </a:p>
          <a:p>
            <a:pPr marL="0" indent="0">
              <a:buNone/>
            </a:pPr>
            <a:r>
              <a:rPr lang="en-SG" dirty="0"/>
              <a:t>    </a:t>
            </a:r>
            <a:r>
              <a:rPr lang="en-SG" dirty="0" err="1"/>
              <a:t>perror</a:t>
            </a:r>
            <a:r>
              <a:rPr lang="en-SG" dirty="0"/>
              <a:t>("</a:t>
            </a:r>
            <a:r>
              <a:rPr lang="en-SG" dirty="0" err="1"/>
              <a:t>execvp</a:t>
            </a:r>
            <a:r>
              <a:rPr lang="en-SG" dirty="0"/>
              <a:t> failed");</a:t>
            </a:r>
          </a:p>
          <a:p>
            <a:pPr marL="0" indent="0">
              <a:buNone/>
            </a:pPr>
            <a:r>
              <a:rPr lang="en-SG" dirty="0"/>
              <a:t>    return 1;</a:t>
            </a:r>
          </a:p>
          <a:p>
            <a:pPr marL="0" indent="0">
              <a:buNone/>
            </a:pPr>
            <a:r>
              <a:rPr lang="en-SG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23982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Multithreaded Programming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Multithreading separates a process into multiple execution threads, each of which runs independently</a:t>
            </a:r>
          </a:p>
          <a:p>
            <a:pPr lvl="1"/>
            <a:r>
              <a:rPr lang="en-US" dirty="0"/>
              <a:t>multitasking internally within a process</a:t>
            </a:r>
          </a:p>
          <a:p>
            <a:pPr lvl="1"/>
            <a:r>
              <a:rPr lang="en-US" dirty="0"/>
              <a:t>sharing the same memory space</a:t>
            </a:r>
          </a:p>
          <a:p>
            <a:pPr lvl="2"/>
            <a:r>
              <a:rPr lang="en-US" dirty="0"/>
              <a:t>easier communication and data sharing between threads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more portable version of lightweight thread is the POSIX threads (</a:t>
            </a:r>
            <a:r>
              <a:rPr lang="en-US" dirty="0" err="1"/>
              <a:t>Pthreads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POSIX (Portable Operating System Interface) is a family of standards specified by the IEEE (Institute of Electrical and Electronics Engineers) to maintain compatibility between operating systems.</a:t>
            </a:r>
          </a:p>
          <a:p>
            <a:pPr lvl="1"/>
            <a:r>
              <a:rPr lang="en-US" dirty="0"/>
              <a:t>a standardized C language threads programming interface specified by the IEEE POSIX 1003.1c-1995 standard</a:t>
            </a:r>
          </a:p>
          <a:p>
            <a:pPr lvl="1"/>
            <a:r>
              <a:rPr lang="en-US" dirty="0"/>
              <a:t>POSIX Threads, usually referred to as </a:t>
            </a:r>
            <a:r>
              <a:rPr lang="en-US" dirty="0" err="1"/>
              <a:t>Pthreads</a:t>
            </a:r>
            <a:r>
              <a:rPr lang="en-US" dirty="0"/>
              <a:t> is an IEEE standard commonly used for multithreaded programming.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Some benefits of multithreaded programming:</a:t>
            </a:r>
          </a:p>
          <a:p>
            <a:pPr lvl="1"/>
            <a:r>
              <a:rPr lang="en-US" dirty="0"/>
              <a:t>better responsiveness for the application</a:t>
            </a:r>
          </a:p>
          <a:p>
            <a:pPr lvl="1"/>
            <a:r>
              <a:rPr lang="en-US" dirty="0"/>
              <a:t>improved program structure</a:t>
            </a:r>
          </a:p>
          <a:p>
            <a:pPr lvl="1"/>
            <a:r>
              <a:rPr lang="en-US" dirty="0"/>
              <a:t>less system resources needed</a:t>
            </a:r>
          </a:p>
          <a:p>
            <a:pPr lvl="1"/>
            <a:r>
              <a:rPr lang="en-US" dirty="0"/>
              <a:t>simpler communication mechanism</a:t>
            </a:r>
          </a:p>
          <a:p>
            <a:pPr lvl="1"/>
            <a:r>
              <a:rPr lang="en-US" dirty="0"/>
              <a:t>more efficient use of multi-core processor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89497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POSIX Threads Standard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en-US" dirty="0" err="1"/>
              <a:t>Pthreads</a:t>
            </a:r>
            <a:r>
              <a:rPr lang="en-US" altLang="en-US" dirty="0"/>
              <a:t> is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thread functions and data types are declared in the header file &lt;</a:t>
            </a:r>
            <a:r>
              <a:rPr lang="en-US" altLang="en-US" dirty="0" err="1"/>
              <a:t>pthread.h</a:t>
            </a:r>
            <a:r>
              <a:rPr lang="en-US" altLang="en-US" dirty="0"/>
              <a:t>&gt;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an API for creating and manipulating threads.</a:t>
            </a:r>
          </a:p>
          <a:p>
            <a:pPr marL="457200" lvl="1" indent="0">
              <a:spcBef>
                <a:spcPts val="0"/>
              </a:spcBef>
            </a:pPr>
            <a:r>
              <a:rPr lang="en-US" altLang="en-US" dirty="0"/>
              <a:t>  link your program with the </a:t>
            </a:r>
            <a:r>
              <a:rPr lang="en-US" altLang="en-US" dirty="0" err="1"/>
              <a:t>libpthread</a:t>
            </a:r>
            <a:r>
              <a:rPr lang="en-US" altLang="en-US" dirty="0"/>
              <a:t> library (using the -</a:t>
            </a:r>
            <a:r>
              <a:rPr lang="en-US" altLang="en-US" dirty="0" err="1"/>
              <a:t>lpthread</a:t>
            </a:r>
            <a:r>
              <a:rPr lang="en-US" altLang="en-US" dirty="0"/>
              <a:t> flag during compilation)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alt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en-US" dirty="0"/>
              <a:t>Being a POSIX based standard</a:t>
            </a:r>
          </a:p>
          <a:p>
            <a:pPr lvl="1">
              <a:spcBef>
                <a:spcPts val="0"/>
              </a:spcBef>
            </a:pPr>
            <a:r>
              <a:rPr lang="en-US" altLang="en-US" dirty="0" err="1"/>
              <a:t>Pthreads</a:t>
            </a:r>
            <a:r>
              <a:rPr lang="en-US" altLang="en-US" dirty="0"/>
              <a:t> is available in many Oss (not only in Linux)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programs coded using </a:t>
            </a:r>
            <a:r>
              <a:rPr lang="en-US" altLang="en-US" dirty="0" err="1"/>
              <a:t>Pthreads</a:t>
            </a:r>
            <a:r>
              <a:rPr lang="en-US" altLang="en-US" dirty="0"/>
              <a:t> are hence very portable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39924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Multitasking Using Threads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When a program is split into many threads, each thread acts like its own individual program</a:t>
            </a:r>
          </a:p>
          <a:p>
            <a:pPr marL="0" indent="0">
              <a:buNone/>
            </a:pPr>
            <a:r>
              <a:rPr lang="en-US" dirty="0"/>
              <a:t>except that all the threads work in the same memory space, so all their memory is shared </a:t>
            </a:r>
          </a:p>
          <a:p>
            <a:r>
              <a:rPr lang="en-US" dirty="0"/>
              <a:t>	This makes communication between threads fairly simple.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example, a media player can have three threads: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thread for pre-buffering the incoming media, possibly from a </a:t>
            </a:r>
            <a:r>
              <a:rPr lang="en-US" dirty="0" err="1"/>
              <a:t>harddrive</a:t>
            </a:r>
            <a:r>
              <a:rPr lang="en-US" dirty="0"/>
              <a:t>, CD, DVD, or network socket.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thread to process user input.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thread to play the actual media.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stall in any single thread won't keep the others from doing their jobs.</a:t>
            </a:r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7969" y="4483928"/>
            <a:ext cx="2260137" cy="232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ounded Rectangle 4"/>
          <p:cNvSpPr/>
          <p:nvPr/>
        </p:nvSpPr>
        <p:spPr>
          <a:xfrm>
            <a:off x="9188615" y="4388565"/>
            <a:ext cx="2452797" cy="56392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86648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2.59259E-6 L -0.6967 -2.59259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8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1.48148E-6 L -0.6934 0.00232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670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Executions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Threads executions are similar to multiple processes executions</a:t>
            </a:r>
          </a:p>
          <a:p>
            <a:pPr lvl="1"/>
            <a:r>
              <a:rPr lang="en-US" dirty="0"/>
              <a:t>time-sliced by the kernel of the OS.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 single core processor systems</a:t>
            </a:r>
          </a:p>
          <a:p>
            <a:pPr lvl="1"/>
            <a:r>
              <a:rPr lang="en-US" dirty="0"/>
              <a:t>kernel uses time slicing to simulate simultaneous executions when running multiple threads (&amp; processes)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on multi-core processor systems, threads can run simultaneously (just like two tasks on multi-core processor)</a:t>
            </a:r>
          </a:p>
          <a:p>
            <a:pPr lvl="1"/>
            <a:r>
              <a:rPr lang="en-US" dirty="0"/>
              <a:t>i.e. threads will also take advantage of multiple cores.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 if we run a threaded program on a multi-core CPU</a:t>
            </a:r>
          </a:p>
          <a:p>
            <a:pPr lvl="1"/>
            <a:r>
              <a:rPr lang="en-US" dirty="0"/>
              <a:t>it could end up being very efficient.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45816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Usage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222351" cy="4351338"/>
          </a:xfrm>
        </p:spPr>
        <p:txBody>
          <a:bodyPr/>
          <a:lstStyle/>
          <a:p>
            <a:pPr marL="0" lvl="0" indent="0" fontAlgn="auto">
              <a:spcBef>
                <a:spcPts val="0"/>
              </a:spcBef>
              <a:spcAft>
                <a:spcPts val="60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GB" dirty="0">
                <a:latin typeface="Arial" pitchFamily="34" charset="0"/>
                <a:ea typeface="HG Mincho Light J" pitchFamily="2"/>
                <a:cs typeface="Arial" pitchFamily="34" charset="0"/>
              </a:rPr>
              <a:t>Threads are also very nimble compared to OS based multitasking process</a:t>
            </a:r>
          </a:p>
          <a:p>
            <a:pPr lvl="0">
              <a:spcBef>
                <a:spcPts val="0"/>
              </a:spcBef>
              <a:spcAft>
                <a:spcPts val="60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GB" dirty="0">
                <a:latin typeface="Arial" pitchFamily="34" charset="0"/>
                <a:ea typeface="HG Mincho Light J" pitchFamily="2"/>
                <a:cs typeface="Arial" pitchFamily="34" charset="0"/>
              </a:rPr>
              <a:t>the kernel does not need to make a new independent copy of each process memory space, file descriptors, etc. when creating a thread.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GB" dirty="0">
                <a:latin typeface="Arial" pitchFamily="34" charset="0"/>
                <a:ea typeface="HG Mincho Light J" pitchFamily="2"/>
                <a:cs typeface="Arial" pitchFamily="34" charset="0"/>
              </a:rPr>
              <a:t>hence a lot less overhead</a:t>
            </a:r>
          </a:p>
          <a:p>
            <a:pPr marL="0" lvl="0" indent="0" fontAlgn="auto">
              <a:spcBef>
                <a:spcPts val="0"/>
              </a:spcBef>
              <a:spcAft>
                <a:spcPts val="60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endParaRPr lang="en-GB" sz="900" dirty="0">
              <a:latin typeface="Arial" pitchFamily="34" charset="0"/>
              <a:ea typeface="HG Mincho Light J" pitchFamily="2"/>
              <a:cs typeface="Arial" pitchFamily="34" charset="0"/>
            </a:endParaRPr>
          </a:p>
          <a:p>
            <a:pPr marL="0" lvl="0" indent="0" fontAlgn="auto">
              <a:spcBef>
                <a:spcPts val="0"/>
              </a:spcBef>
              <a:spcAft>
                <a:spcPts val="60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GB" dirty="0">
                <a:latin typeface="Arial" pitchFamily="34" charset="0"/>
                <a:ea typeface="HG Mincho Light J" pitchFamily="2"/>
                <a:cs typeface="Arial" pitchFamily="34" charset="0"/>
              </a:rPr>
              <a:t>This also saves a lot of CPU time (10 to 100 times), and enable faster context switching</a:t>
            </a:r>
          </a:p>
          <a:p>
            <a:pPr lvl="0">
              <a:spcBef>
                <a:spcPts val="0"/>
              </a:spcBef>
              <a:spcAft>
                <a:spcPts val="60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GB" dirty="0">
                <a:latin typeface="Arial" pitchFamily="34" charset="0"/>
                <a:ea typeface="HG Mincho Light J" pitchFamily="2"/>
                <a:cs typeface="Arial" pitchFamily="34" charset="0"/>
              </a:rPr>
              <a:t>creating threads is definitely not going to kill CPU performance!</a:t>
            </a:r>
          </a:p>
          <a:p>
            <a:endParaRPr lang="en-SG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551" y="925468"/>
            <a:ext cx="2339491" cy="2671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905" y="3692472"/>
            <a:ext cx="2260137" cy="232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7827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Multithreading &amp; IPC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 threads share the same memory space</a:t>
            </a:r>
          </a:p>
          <a:p>
            <a:pPr lvl="1"/>
            <a:r>
              <a:rPr lang="en-US" dirty="0"/>
              <a:t>independent threads can access the same global variables.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POSIX threads hence do NOT need time consuming and complicated IPC procedures to communicate between threads.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With a little synchronization</a:t>
            </a:r>
          </a:p>
          <a:p>
            <a:pPr lvl="1"/>
            <a:r>
              <a:rPr lang="en-US" dirty="0"/>
              <a:t>all threads can read and modify a program's data structures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818792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Pthread</a:t>
            </a:r>
            <a:r>
              <a:rPr lang="en-US" dirty="0"/>
              <a:t> for C Program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300" dirty="0"/>
              <a:t>A basic multithreaded C program needs to use the followings in its program:</a:t>
            </a:r>
          </a:p>
          <a:p>
            <a:pPr marL="0" indent="0">
              <a:buNone/>
            </a:pPr>
            <a:endParaRPr lang="en-US" sz="4300" dirty="0"/>
          </a:p>
          <a:p>
            <a:r>
              <a:rPr lang="en-US" sz="4300" dirty="0"/>
              <a:t>include the </a:t>
            </a:r>
            <a:r>
              <a:rPr lang="en-US" sz="4300" dirty="0" err="1"/>
              <a:t>Pthread’s</a:t>
            </a:r>
            <a:r>
              <a:rPr lang="en-US" sz="4300" dirty="0"/>
              <a:t> header file </a:t>
            </a:r>
          </a:p>
          <a:p>
            <a:pPr marL="0" indent="0">
              <a:buNone/>
            </a:pPr>
            <a:r>
              <a:rPr lang="en-US" sz="4300" dirty="0"/>
              <a:t>	</a:t>
            </a:r>
            <a:r>
              <a:rPr lang="en-US" sz="4300" dirty="0">
                <a:solidFill>
                  <a:srgbClr val="FF0000"/>
                </a:solidFill>
              </a:rPr>
              <a:t>#include &lt;</a:t>
            </a:r>
            <a:r>
              <a:rPr lang="en-US" sz="4300" dirty="0" err="1">
                <a:solidFill>
                  <a:srgbClr val="FF0000"/>
                </a:solidFill>
              </a:rPr>
              <a:t>pthread.h</a:t>
            </a:r>
            <a:r>
              <a:rPr lang="en-US" sz="4300" dirty="0">
                <a:solidFill>
                  <a:srgbClr val="FF0000"/>
                </a:solidFill>
              </a:rPr>
              <a:t>&gt;</a:t>
            </a:r>
          </a:p>
          <a:p>
            <a:r>
              <a:rPr lang="en-US" sz="4300" dirty="0"/>
              <a:t>define the thread identifier (a unique thread ID)</a:t>
            </a:r>
          </a:p>
          <a:p>
            <a:pPr marL="0" indent="0">
              <a:buNone/>
            </a:pPr>
            <a:r>
              <a:rPr lang="en-US" sz="4300" dirty="0"/>
              <a:t>	</a:t>
            </a:r>
            <a:r>
              <a:rPr lang="en-US" sz="4300" dirty="0" err="1">
                <a:solidFill>
                  <a:srgbClr val="FF0000"/>
                </a:solidFill>
              </a:rPr>
              <a:t>pthread_t</a:t>
            </a:r>
            <a:r>
              <a:rPr lang="en-US" sz="4300" dirty="0">
                <a:solidFill>
                  <a:srgbClr val="FF0000"/>
                </a:solidFill>
              </a:rPr>
              <a:t> </a:t>
            </a:r>
          </a:p>
          <a:p>
            <a:r>
              <a:rPr lang="en-US" sz="4300" dirty="0"/>
              <a:t>create the thread using the function: return 0 on success or a positive number on error</a:t>
            </a:r>
          </a:p>
          <a:p>
            <a:pPr marL="0" indent="0">
              <a:buNone/>
            </a:pPr>
            <a:r>
              <a:rPr lang="en-US" sz="4300" dirty="0"/>
              <a:t>               </a:t>
            </a:r>
            <a:r>
              <a:rPr lang="en-US" sz="3800" dirty="0" err="1"/>
              <a:t>int</a:t>
            </a:r>
            <a:r>
              <a:rPr lang="en-US" sz="3800" dirty="0"/>
              <a:t> </a:t>
            </a:r>
            <a:r>
              <a:rPr lang="en-US" sz="3800" b="1" dirty="0" err="1">
                <a:solidFill>
                  <a:srgbClr val="FF0000"/>
                </a:solidFill>
              </a:rPr>
              <a:t>pthread_create</a:t>
            </a:r>
            <a:r>
              <a:rPr lang="en-US" sz="3800" b="1" dirty="0">
                <a:solidFill>
                  <a:srgbClr val="FF0000"/>
                </a:solidFill>
              </a:rPr>
              <a:t> </a:t>
            </a:r>
            <a:r>
              <a:rPr lang="en-US" sz="3800" dirty="0"/>
              <a:t>(</a:t>
            </a:r>
            <a:r>
              <a:rPr lang="en-US" sz="3800" dirty="0" err="1"/>
              <a:t>pthread_t</a:t>
            </a:r>
            <a:r>
              <a:rPr lang="en-US" sz="3800" dirty="0"/>
              <a:t> *</a:t>
            </a:r>
            <a:r>
              <a:rPr lang="en-US" sz="3800" i="1" dirty="0"/>
              <a:t>thread</a:t>
            </a:r>
            <a:r>
              <a:rPr lang="en-US" sz="3800" dirty="0"/>
              <a:t>, </a:t>
            </a:r>
            <a:r>
              <a:rPr lang="en-US" sz="3800" dirty="0" err="1"/>
              <a:t>const</a:t>
            </a:r>
            <a:r>
              <a:rPr lang="en-US" sz="3800" dirty="0"/>
              <a:t> </a:t>
            </a:r>
            <a:r>
              <a:rPr lang="en-US" sz="3800" dirty="0" err="1"/>
              <a:t>pthread_attr_t</a:t>
            </a:r>
            <a:r>
              <a:rPr lang="en-US" sz="3800" dirty="0"/>
              <a:t> *</a:t>
            </a:r>
            <a:r>
              <a:rPr lang="en-US" sz="3800" i="1" dirty="0" err="1"/>
              <a:t>attr</a:t>
            </a:r>
            <a:r>
              <a:rPr lang="en-US" sz="3800" dirty="0"/>
              <a:t>, </a:t>
            </a:r>
            <a:r>
              <a:rPr lang="en-SG" sz="3800" dirty="0"/>
              <a:t>void *(*</a:t>
            </a:r>
            <a:r>
              <a:rPr lang="en-SG" sz="3800" i="1" dirty="0"/>
              <a:t>start</a:t>
            </a:r>
            <a:r>
              <a:rPr lang="en-SG" sz="3800" dirty="0"/>
              <a:t>)(void *), void *</a:t>
            </a:r>
            <a:r>
              <a:rPr lang="en-SG" sz="3800" i="1" dirty="0" err="1"/>
              <a:t>arg</a:t>
            </a:r>
            <a:r>
              <a:rPr lang="en-SG" sz="3800" dirty="0"/>
              <a:t>);</a:t>
            </a:r>
            <a:endParaRPr lang="en-US" sz="3800" dirty="0">
              <a:solidFill>
                <a:srgbClr val="FF0000"/>
              </a:solidFill>
            </a:endParaRPr>
          </a:p>
          <a:p>
            <a:r>
              <a:rPr lang="en-US" sz="4300" dirty="0"/>
              <a:t>wait for the thread to complete using the function </a:t>
            </a:r>
          </a:p>
          <a:p>
            <a:pPr marL="0" indent="0">
              <a:buNone/>
            </a:pPr>
            <a:r>
              <a:rPr lang="en-US" sz="4300" dirty="0"/>
              <a:t>	</a:t>
            </a:r>
            <a:r>
              <a:rPr lang="en-US" sz="3800" dirty="0" err="1"/>
              <a:t>int</a:t>
            </a:r>
            <a:r>
              <a:rPr lang="en-US" sz="3800" dirty="0"/>
              <a:t> </a:t>
            </a:r>
            <a:r>
              <a:rPr lang="en-US" sz="3800" b="1" dirty="0" err="1">
                <a:solidFill>
                  <a:srgbClr val="FF0000"/>
                </a:solidFill>
              </a:rPr>
              <a:t>pthread_join</a:t>
            </a:r>
            <a:r>
              <a:rPr lang="en-US" sz="3800" b="1" dirty="0">
                <a:solidFill>
                  <a:srgbClr val="FF0000"/>
                </a:solidFill>
              </a:rPr>
              <a:t> </a:t>
            </a:r>
            <a:r>
              <a:rPr lang="en-US" sz="3800" dirty="0"/>
              <a:t>(</a:t>
            </a:r>
            <a:r>
              <a:rPr lang="en-US" sz="3800" dirty="0" err="1"/>
              <a:t>pthread_t</a:t>
            </a:r>
            <a:r>
              <a:rPr lang="en-US" sz="3800" dirty="0"/>
              <a:t> thread, void **</a:t>
            </a:r>
            <a:r>
              <a:rPr lang="en-US" sz="3800" dirty="0" err="1"/>
              <a:t>retval</a:t>
            </a:r>
            <a:r>
              <a:rPr lang="en-US" sz="3800" dirty="0"/>
              <a:t> );</a:t>
            </a:r>
          </a:p>
          <a:p>
            <a:r>
              <a:rPr lang="en-US" sz="4300" dirty="0"/>
              <a:t>Compilation of  the program need to include the library:   	</a:t>
            </a:r>
          </a:p>
          <a:p>
            <a:pPr marL="0" indent="0">
              <a:buNone/>
            </a:pPr>
            <a:r>
              <a:rPr lang="en-US" sz="4300" dirty="0"/>
              <a:t>	</a:t>
            </a:r>
            <a:r>
              <a:rPr lang="en-US" sz="3800" dirty="0">
                <a:solidFill>
                  <a:srgbClr val="FF0000"/>
                </a:solidFill>
              </a:rPr>
              <a:t>-</a:t>
            </a:r>
            <a:r>
              <a:rPr lang="en-US" sz="3800" dirty="0" err="1">
                <a:solidFill>
                  <a:srgbClr val="FF0000"/>
                </a:solidFill>
              </a:rPr>
              <a:t>pthread</a:t>
            </a:r>
            <a:r>
              <a:rPr lang="en-US" sz="3800" dirty="0">
                <a:solidFill>
                  <a:srgbClr val="FF0000"/>
                </a:solidFill>
              </a:rPr>
              <a:t> (or –</a:t>
            </a:r>
            <a:r>
              <a:rPr lang="en-US" sz="3800" dirty="0" err="1">
                <a:solidFill>
                  <a:srgbClr val="FF0000"/>
                </a:solidFill>
              </a:rPr>
              <a:t>lpthread</a:t>
            </a:r>
            <a:r>
              <a:rPr lang="en-US" sz="38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00369" y="5934670"/>
            <a:ext cx="53463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Attr</a:t>
            </a:r>
            <a:r>
              <a:rPr lang="en-US" dirty="0"/>
              <a:t>: thread attribute including state, scope, scheduler</a:t>
            </a:r>
          </a:p>
          <a:p>
            <a:r>
              <a:rPr lang="en-US" dirty="0"/>
              <a:t>, scheduling policy, scheduling priority, </a:t>
            </a:r>
          </a:p>
          <a:p>
            <a:r>
              <a:rPr lang="en-US" dirty="0"/>
              <a:t>guard size (prevent overflow), stack address, stack size)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19936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Pthread</a:t>
            </a:r>
            <a:r>
              <a:rPr lang="en-US" dirty="0"/>
              <a:t> for C Program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75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Another function that can be used :</a:t>
            </a:r>
          </a:p>
          <a:p>
            <a:pPr lvl="1"/>
            <a:r>
              <a:rPr lang="en-US" dirty="0"/>
              <a:t>void </a:t>
            </a:r>
            <a:r>
              <a:rPr lang="en-US" dirty="0" err="1">
                <a:solidFill>
                  <a:srgbClr val="FF0000"/>
                </a:solidFill>
              </a:rPr>
              <a:t>pthread_exit</a:t>
            </a:r>
            <a:r>
              <a:rPr lang="en-US" dirty="0">
                <a:solidFill>
                  <a:srgbClr val="FF0000"/>
                </a:solidFill>
              </a:rPr>
              <a:t>( void *</a:t>
            </a:r>
            <a:r>
              <a:rPr lang="en-US" dirty="0" err="1">
                <a:solidFill>
                  <a:srgbClr val="FF0000"/>
                </a:solidFill>
              </a:rPr>
              <a:t>retval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en-US" dirty="0"/>
          </a:p>
          <a:p>
            <a:pPr lvl="1"/>
            <a:r>
              <a:rPr lang="en-US" dirty="0"/>
              <a:t>the calling thread (</a:t>
            </a:r>
            <a:r>
              <a:rPr lang="en-US" dirty="0" err="1"/>
              <a:t>e.g.main</a:t>
            </a:r>
            <a:r>
              <a:rPr lang="en-US" dirty="0"/>
              <a:t>()) </a:t>
            </a:r>
            <a:r>
              <a:rPr lang="en-US" dirty="0">
                <a:solidFill>
                  <a:srgbClr val="FF0000"/>
                </a:solidFill>
              </a:rPr>
              <a:t>terminates</a:t>
            </a:r>
            <a:r>
              <a:rPr lang="en-US" dirty="0"/>
              <a:t> itself, while letting the spawned thread(s) continue to execute, using the function </a:t>
            </a:r>
          </a:p>
          <a:p>
            <a:pPr lvl="1"/>
            <a:r>
              <a:rPr lang="en-US" dirty="0"/>
              <a:t>This function should only be used if the spawned threads do not use resources created by the calling thread </a:t>
            </a:r>
          </a:p>
          <a:p>
            <a:pPr lvl="2"/>
            <a:r>
              <a:rPr lang="en-US" dirty="0"/>
              <a:t>e.g. local variables that is declared in main(), </a:t>
            </a:r>
          </a:p>
          <a:p>
            <a:pPr lvl="2"/>
            <a:r>
              <a:rPr lang="en-US" dirty="0"/>
              <a:t>otherwise the threads will try to access resources that are already deallocated by the calling thread.</a:t>
            </a:r>
          </a:p>
          <a:p>
            <a:pPr marL="0" indent="0">
              <a:buNone/>
            </a:pPr>
            <a:r>
              <a:rPr lang="en-US" dirty="0"/>
              <a:t>Hence it is probably ‘safer’ to use </a:t>
            </a:r>
            <a:r>
              <a:rPr lang="en-US" dirty="0" err="1">
                <a:solidFill>
                  <a:srgbClr val="FF0000"/>
                </a:solidFill>
              </a:rPr>
              <a:t>pthread_join</a:t>
            </a:r>
            <a:r>
              <a:rPr lang="en-US" dirty="0">
                <a:solidFill>
                  <a:srgbClr val="FF0000"/>
                </a:solidFill>
              </a:rPr>
              <a:t>( ).</a:t>
            </a:r>
          </a:p>
          <a:p>
            <a:pPr lvl="1"/>
            <a:r>
              <a:rPr lang="en-US" dirty="0"/>
              <a:t>which wait for the spawned thread(s) to terminate.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32883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Basic Multithreaded C Program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So how does a </a:t>
            </a:r>
            <a:r>
              <a:rPr lang="en-US" dirty="0" err="1"/>
              <a:t>Pthreads</a:t>
            </a:r>
            <a:r>
              <a:rPr lang="en-US" dirty="0"/>
              <a:t> based multithreaded program looks like?</a:t>
            </a:r>
          </a:p>
          <a:p>
            <a:pPr marL="342900" indent="-342900" algn="just"/>
            <a:r>
              <a:rPr lang="en-US" dirty="0"/>
              <a:t>the following example shows how </a:t>
            </a:r>
            <a:r>
              <a:rPr lang="en-US" dirty="0" err="1"/>
              <a:t>Pthreads</a:t>
            </a:r>
            <a:r>
              <a:rPr lang="en-US" dirty="0"/>
              <a:t> is included for a simple C program.</a:t>
            </a:r>
          </a:p>
          <a:p>
            <a:pPr marL="0" indent="0" algn="just">
              <a:buNone/>
            </a:pPr>
            <a:endParaRPr lang="en-US" dirty="0"/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8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#include &lt;</a:t>
            </a:r>
            <a:r>
              <a:rPr lang="en-GB" b="1" dirty="0" err="1">
                <a:solidFill>
                  <a:srgbClr val="008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stdio.h</a:t>
            </a:r>
            <a:r>
              <a:rPr lang="en-GB" b="1" dirty="0">
                <a:solidFill>
                  <a:srgbClr val="008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&gt;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8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#include &lt;</a:t>
            </a:r>
            <a:r>
              <a:rPr lang="en-GB" b="1" dirty="0" err="1">
                <a:solidFill>
                  <a:srgbClr val="008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stdlib.h</a:t>
            </a:r>
            <a:r>
              <a:rPr lang="en-GB" b="1" dirty="0">
                <a:solidFill>
                  <a:srgbClr val="008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&gt;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8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#include &lt;</a:t>
            </a:r>
            <a:r>
              <a:rPr lang="en-GB" b="1" dirty="0" err="1">
                <a:solidFill>
                  <a:srgbClr val="8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pthread.h</a:t>
            </a:r>
            <a:r>
              <a:rPr lang="en-GB" b="1" dirty="0">
                <a:solidFill>
                  <a:srgbClr val="8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&gt;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b="1" dirty="0">
              <a:solidFill>
                <a:srgbClr val="008000"/>
              </a:solidFill>
              <a:latin typeface="Courier New" pitchFamily="49" charset="0"/>
              <a:ea typeface="HG Mincho Light J" pitchFamily="2"/>
              <a:cs typeface="Courier New" pitchFamily="49" charset="0"/>
            </a:endParaRP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void *</a:t>
            </a:r>
            <a:r>
              <a:rPr lang="en-GB" b="1" dirty="0" err="1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print_msg</a:t>
            </a: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( void *</a:t>
            </a:r>
            <a:r>
              <a:rPr lang="en-GB" b="1" dirty="0" err="1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ptr</a:t>
            </a: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)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{ char *text;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text = (char *) </a:t>
            </a:r>
            <a:r>
              <a:rPr lang="en-GB" b="1" dirty="0" err="1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ptr</a:t>
            </a: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</a:t>
            </a:r>
            <a:r>
              <a:rPr lang="en-GB" b="1" dirty="0" err="1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printf</a:t>
            </a: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("%s \n", text);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}</a:t>
            </a:r>
          </a:p>
          <a:p>
            <a:pPr marL="0" lvl="0" indent="0" algn="just">
              <a:buNone/>
            </a:pPr>
            <a:r>
              <a:rPr lang="en-GB" sz="2400" b="1" dirty="0">
                <a:solidFill>
                  <a:srgbClr val="008000"/>
                </a:solidFill>
                <a:ea typeface="HG Mincho Light J" pitchFamily="2"/>
                <a:cs typeface="Courier New" pitchFamily="49" charset="0"/>
              </a:rPr>
              <a:t>// continue in next slide</a:t>
            </a:r>
            <a:endParaRPr lang="en-US" sz="2400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223808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Multithreaded C Program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int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main()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35718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{	</a:t>
            </a:r>
            <a:r>
              <a:rPr lang="en-GB" b="1" dirty="0" err="1">
                <a:solidFill>
                  <a:srgbClr val="8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pthread_t</a:t>
            </a:r>
            <a:r>
              <a:rPr lang="en-GB" b="1" dirty="0">
                <a:solidFill>
                  <a:srgbClr val="8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thread1, thread2; </a:t>
            </a:r>
            <a:r>
              <a:rPr lang="en-GB" b="1" dirty="0">
                <a:solidFill>
                  <a:srgbClr val="00B05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//</a:t>
            </a:r>
            <a:r>
              <a:rPr lang="en-SG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thread identifiers </a:t>
            </a:r>
            <a:endParaRPr lang="en-GB" b="1" dirty="0">
              <a:solidFill>
                <a:srgbClr val="00B050"/>
              </a:solidFill>
              <a:latin typeface="Courier New" pitchFamily="49" charset="0"/>
              <a:ea typeface="HG Mincho Light J" pitchFamily="2"/>
              <a:cs typeface="Courier New" pitchFamily="49" charset="0"/>
            </a:endParaRP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35718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	char *str1 = "I am thread 1";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35718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	char *str2 = "I am thread 2";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35718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	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int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T1ret, T2ret;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35718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8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	/* Create two threads */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35718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	T1ret = 	</a:t>
            </a:r>
            <a:r>
              <a:rPr lang="en-GB" b="1" dirty="0" err="1">
                <a:solidFill>
                  <a:srgbClr val="8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pthread_create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(&amp;thread1, 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NULL,</a:t>
            </a:r>
            <a:r>
              <a:rPr lang="en-GB" b="1" dirty="0" err="1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print_msg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, (void*) str1);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35718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	T2ret = 	</a:t>
            </a:r>
            <a:r>
              <a:rPr lang="en-GB" b="1" dirty="0" err="1">
                <a:solidFill>
                  <a:srgbClr val="8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pthread_create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(&amp;thread2, 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NULL,</a:t>
            </a:r>
            <a:r>
              <a:rPr lang="en-GB" b="1" dirty="0" err="1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print_msg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, (void*) str2);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8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// 	The main program (thread 0?) now waits for both  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8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// threads to finish before it continue (to exit)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</a:t>
            </a:r>
            <a:r>
              <a:rPr lang="en-GB" b="1" dirty="0" err="1">
                <a:solidFill>
                  <a:srgbClr val="8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pthread_join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( thread1, NULL);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</a:t>
            </a:r>
            <a:r>
              <a:rPr lang="en-GB" b="1" dirty="0" err="1">
                <a:solidFill>
                  <a:srgbClr val="8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pthread_join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( thread2, NULL);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printf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(“Bye\n”);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return 0;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" pitchFamily="49" charset="0"/>
                <a:ea typeface="HG Mincho Light J" pitchFamily="2"/>
                <a:cs typeface="Nimbus Sans L" pitchFamily="2"/>
              </a:rPr>
              <a:t>}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37281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SG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pthread.h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unistd.h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SG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SG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SG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/* This is our thread function. */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*</a:t>
            </a:r>
            <a:r>
              <a:rPr lang="en-SG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threadFunc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(void *</a:t>
            </a:r>
            <a:r>
              <a:rPr lang="en-SG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 char *</a:t>
            </a:r>
            <a:r>
              <a:rPr lang="en-SG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SG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SG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=(char*)</a:t>
            </a:r>
            <a:r>
              <a:rPr lang="en-SG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while(</a:t>
            </a:r>
            <a:r>
              <a:rPr lang="en-SG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110 )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{ </a:t>
            </a:r>
            <a:r>
              <a:rPr lang="en-SG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usleep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(1); /* sleep for 1 microsecond */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SG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("thread is running: %s\n",</a:t>
            </a:r>
            <a:r>
              <a:rPr lang="en-SG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++</a:t>
            </a:r>
            <a:r>
              <a:rPr lang="en-SG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return NULL;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140987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 (</a:t>
            </a:r>
            <a:r>
              <a:rPr lang="en-US" dirty="0" err="1"/>
              <a:t>cont</a:t>
            </a:r>
            <a:r>
              <a:rPr lang="en-US" dirty="0"/>
              <a:t>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SG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main(void)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SG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pthread_t</a:t>
            </a:r>
            <a:r>
              <a:rPr lang="en-SG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T1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// this is thread identifier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SG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  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SG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(&amp;T1, NULL, </a:t>
            </a:r>
            <a:r>
              <a:rPr lang="en-SG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threadFunc</a:t>
            </a: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"foo");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// main continue with its own code execution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SG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while(</a:t>
            </a:r>
            <a:r>
              <a:rPr lang="en-SG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SG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100)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 </a:t>
            </a:r>
            <a:r>
              <a:rPr lang="en-SG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usleep</a:t>
            </a:r>
            <a:r>
              <a:rPr lang="en-SG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(1);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SG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SG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("main is running...\n"); ++</a:t>
            </a:r>
            <a:r>
              <a:rPr lang="en-SG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SG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SG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SG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("main waiting for thread to terminate.\n");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SG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pthread_join</a:t>
            </a:r>
            <a:r>
              <a:rPr lang="en-SG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(T1, NULL);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0;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SG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664964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Notes on Threads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GB" sz="20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A </a:t>
            </a:r>
            <a:r>
              <a:rPr lang="en-GB" sz="2000" dirty="0">
                <a:solidFill>
                  <a:srgbClr val="00008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thread</a:t>
            </a:r>
            <a:r>
              <a:rPr lang="en-GB" sz="20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 does not know its </a:t>
            </a:r>
            <a:r>
              <a:rPr lang="en-GB" sz="2000" dirty="0">
                <a:solidFill>
                  <a:srgbClr val="008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parent</a:t>
            </a:r>
            <a:r>
              <a:rPr lang="en-GB" sz="20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, and all </a:t>
            </a:r>
            <a:r>
              <a:rPr lang="en-GB" sz="2000" dirty="0">
                <a:solidFill>
                  <a:srgbClr val="00008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threads</a:t>
            </a:r>
            <a:r>
              <a:rPr lang="en-GB" sz="20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 within a process </a:t>
            </a:r>
            <a:r>
              <a:rPr lang="en-GB" sz="2000" dirty="0">
                <a:solidFill>
                  <a:srgbClr val="008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share address space</a:t>
            </a:r>
            <a:r>
              <a:rPr lang="en-GB" sz="20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.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endParaRPr lang="en-GB" sz="1000" dirty="0">
              <a:solidFill>
                <a:srgbClr val="000000"/>
              </a:solidFill>
              <a:latin typeface="Arial" pitchFamily="34" charset="0"/>
              <a:ea typeface="HG Mincho Light J" pitchFamily="2"/>
              <a:cs typeface="Arial" pitchFamily="34" charset="0"/>
            </a:endParaRP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GB" sz="20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They also </a:t>
            </a:r>
            <a:r>
              <a:rPr lang="en-GB" sz="2000" dirty="0">
                <a:solidFill>
                  <a:srgbClr val="00008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share</a:t>
            </a:r>
            <a:r>
              <a:rPr lang="en-GB" sz="20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: 	open files (file descriptors)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GB" sz="20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			signals and signal handlers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GB" sz="20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			current working directory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GB" sz="20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			User and group id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endParaRPr lang="en-GB" sz="1000" dirty="0">
              <a:solidFill>
                <a:srgbClr val="000000"/>
              </a:solidFill>
              <a:latin typeface="Arial" pitchFamily="34" charset="0"/>
              <a:ea typeface="HG Mincho Light J" pitchFamily="2"/>
              <a:cs typeface="Arial" pitchFamily="34" charset="0"/>
            </a:endParaRP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GB" sz="20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But they have </a:t>
            </a:r>
            <a:r>
              <a:rPr lang="en-GB" sz="2000" dirty="0">
                <a:solidFill>
                  <a:srgbClr val="00008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unique</a:t>
            </a:r>
            <a:r>
              <a:rPr lang="en-GB" sz="20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: 	thread ID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GB" sz="20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			registers, stack pointer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GB" sz="20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			stack for local variables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GB" sz="20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			return addresses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GB" sz="20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			signal mask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GB" sz="20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			priority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endParaRPr lang="en-GB" sz="1000" dirty="0">
              <a:solidFill>
                <a:srgbClr val="000000"/>
              </a:solidFill>
              <a:latin typeface="Arial" pitchFamily="34" charset="0"/>
              <a:ea typeface="HG Mincho Light J" pitchFamily="2"/>
              <a:cs typeface="Arial" pitchFamily="34" charset="0"/>
            </a:endParaRP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GB" sz="20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Return value:		</a:t>
            </a:r>
            <a:r>
              <a:rPr lang="en-GB" sz="2000" dirty="0" err="1">
                <a:solidFill>
                  <a:srgbClr val="00008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pthreads</a:t>
            </a:r>
            <a:r>
              <a:rPr lang="en-GB" sz="20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 functions return "0" if OK.</a:t>
            </a:r>
          </a:p>
        </p:txBody>
      </p:sp>
    </p:spTree>
    <p:extLst>
      <p:ext uri="{BB962C8B-B14F-4D97-AF65-F5344CB8AC3E}">
        <p14:creationId xmlns:p14="http://schemas.microsoft.com/office/powerpoint/2010/main" val="42550585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Thread Synchronization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GB" kern="0" dirty="0">
                <a:solidFill>
                  <a:srgbClr val="002060"/>
                </a:solidFill>
                <a:latin typeface="Helvetica" pitchFamily="34"/>
                <a:ea typeface="HG Mincho Light J" pitchFamily="2"/>
                <a:cs typeface="Nimbus Sans L" pitchFamily="2"/>
              </a:rPr>
              <a:t>Sharing of resource (e.g. global variables) by multiple threads must be carefully synchronized to avoid </a:t>
            </a:r>
            <a:r>
              <a:rPr lang="en-GB" kern="0" dirty="0">
                <a:solidFill>
                  <a:srgbClr val="FF0000"/>
                </a:solidFill>
                <a:latin typeface="Helvetica" pitchFamily="34"/>
                <a:ea typeface="HG Mincho Light J" pitchFamily="2"/>
                <a:cs typeface="Nimbus Sans L" pitchFamily="2"/>
              </a:rPr>
              <a:t>race condition.</a:t>
            </a:r>
          </a:p>
          <a:p>
            <a:pPr marL="0" indent="0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endParaRPr lang="en-GB" sz="900" kern="0" dirty="0">
              <a:solidFill>
                <a:srgbClr val="FF0000"/>
              </a:solidFill>
              <a:latin typeface="Helvetica" pitchFamily="34"/>
              <a:ea typeface="HG Mincho Light J" pitchFamily="2"/>
              <a:cs typeface="Nimbus Sans L" pitchFamily="2"/>
            </a:endParaRPr>
          </a:p>
          <a:p>
            <a:pPr marL="0" indent="0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GB" kern="0" dirty="0">
                <a:solidFill>
                  <a:srgbClr val="002060"/>
                </a:solidFill>
                <a:latin typeface="Helvetica" pitchFamily="34"/>
                <a:ea typeface="HG Mincho Light J" pitchFamily="2"/>
                <a:cs typeface="Nimbus Sans L" pitchFamily="2"/>
              </a:rPr>
              <a:t>Consider the following program:</a:t>
            </a:r>
          </a:p>
          <a:p>
            <a:pPr marL="0" indent="0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endParaRPr lang="en-GB" sz="900" kern="0" dirty="0">
              <a:solidFill>
                <a:srgbClr val="002060"/>
              </a:solidFill>
              <a:latin typeface="Helvetica" pitchFamily="34"/>
              <a:ea typeface="HG Mincho Light J" pitchFamily="2"/>
              <a:cs typeface="Nimbus Sans L" pitchFamily="2"/>
            </a:endParaRP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#include &lt;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stdio.h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&gt;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#include &lt;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stdlib.h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&gt;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99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#include &lt;</a:t>
            </a:r>
            <a:r>
              <a:rPr lang="en-GB" b="1" dirty="0" err="1">
                <a:solidFill>
                  <a:srgbClr val="99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pthread.h</a:t>
            </a:r>
            <a:r>
              <a:rPr lang="en-GB" b="1" dirty="0">
                <a:solidFill>
                  <a:srgbClr val="99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&gt;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 err="1">
                <a:solidFill>
                  <a:srgbClr val="FF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int</a:t>
            </a:r>
            <a:r>
              <a:rPr lang="en-GB" b="1" dirty="0">
                <a:solidFill>
                  <a:srgbClr val="FF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c = 0;     // global variable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void *</a:t>
            </a:r>
            <a:r>
              <a:rPr lang="en-GB" b="1" dirty="0" err="1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fnC</a:t>
            </a: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()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{ 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 </a:t>
            </a:r>
            <a:r>
              <a:rPr lang="en-GB" b="1" dirty="0" err="1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int</a:t>
            </a: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</a:t>
            </a:r>
            <a:r>
              <a:rPr lang="en-GB" b="1" dirty="0" err="1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i,j</a:t>
            </a: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 for (</a:t>
            </a:r>
            <a:r>
              <a:rPr lang="en-GB" b="1" dirty="0" err="1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i</a:t>
            </a: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=0;i&lt;10;i++)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893763" algn="l"/>
                <a:tab pos="125253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	{	</a:t>
            </a:r>
            <a:r>
              <a:rPr lang="en-GB" b="1" dirty="0" err="1">
                <a:solidFill>
                  <a:srgbClr val="FF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c++</a:t>
            </a:r>
            <a:r>
              <a:rPr lang="en-GB" b="1" dirty="0">
                <a:solidFill>
                  <a:srgbClr val="FF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;   // increment the global variable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893763" algn="l"/>
                <a:tab pos="125253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99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		</a:t>
            </a: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for (j=0; j&lt;5000000;j++); // long delay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893763" algn="l"/>
                <a:tab pos="125253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		</a:t>
            </a:r>
            <a:r>
              <a:rPr lang="en-GB" b="1" dirty="0" err="1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printf</a:t>
            </a: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(" %</a:t>
            </a:r>
            <a:r>
              <a:rPr lang="en-GB" b="1" dirty="0" err="1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d",c</a:t>
            </a: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); </a:t>
            </a:r>
            <a:r>
              <a:rPr lang="en-GB" b="1" dirty="0" err="1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fflush</a:t>
            </a: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(</a:t>
            </a:r>
            <a:r>
              <a:rPr lang="en-GB" b="1" dirty="0" err="1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stdout</a:t>
            </a: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);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  	}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808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}</a:t>
            </a:r>
            <a:endParaRPr lang="en-GB" kern="0" dirty="0">
              <a:solidFill>
                <a:srgbClr val="FF0000"/>
              </a:solidFill>
              <a:latin typeface="Helvetica" pitchFamily="34"/>
              <a:ea typeface="HG Mincho Light J" pitchFamily="2"/>
              <a:cs typeface="Nimbus Sans 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9803202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Condition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main()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35718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{	</a:t>
            </a:r>
            <a:r>
              <a:rPr lang="en-GB" b="1" dirty="0" err="1">
                <a:solidFill>
                  <a:srgbClr val="8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pthread_t</a:t>
            </a:r>
            <a:r>
              <a:rPr lang="en-GB" b="1" dirty="0">
                <a:solidFill>
                  <a:srgbClr val="8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tA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, 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tB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;</a:t>
            </a:r>
          </a:p>
          <a:p>
            <a:pPr marL="0" indent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35718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	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int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rtA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, 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rtB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;</a:t>
            </a:r>
          </a:p>
          <a:p>
            <a:pPr marL="0" indent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35718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	</a:t>
            </a:r>
            <a:r>
              <a:rPr lang="en-GB" b="1" dirty="0">
                <a:solidFill>
                  <a:srgbClr val="008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/* Create two threads */</a:t>
            </a:r>
          </a:p>
          <a:p>
            <a:pPr marL="0" indent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35718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8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	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if ((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rtA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=</a:t>
            </a:r>
            <a:r>
              <a:rPr lang="en-GB" b="1" dirty="0" err="1">
                <a:solidFill>
                  <a:srgbClr val="8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pthread_create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(&amp;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tA,NULL,</a:t>
            </a:r>
            <a:r>
              <a:rPr lang="en-GB" b="1" dirty="0" err="1">
                <a:solidFill>
                  <a:srgbClr val="FF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fnC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,NULL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)) )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    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printf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("Thread creation failed: %d\n",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rtA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);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b="1" dirty="0">
              <a:solidFill>
                <a:srgbClr val="000000"/>
              </a:solidFill>
              <a:latin typeface="Courier New" pitchFamily="49" charset="0"/>
              <a:ea typeface="HG Mincho Light J" pitchFamily="2"/>
              <a:cs typeface="Courier New" pitchFamily="49" charset="0"/>
            </a:endParaRP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if ((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rtB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=</a:t>
            </a:r>
            <a:r>
              <a:rPr lang="en-GB" b="1" dirty="0" err="1">
                <a:solidFill>
                  <a:srgbClr val="8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pthread_create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(&amp;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tB,NULL,</a:t>
            </a:r>
            <a:r>
              <a:rPr lang="en-GB" b="1" dirty="0" err="1">
                <a:solidFill>
                  <a:srgbClr val="FF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fnC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,NULL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)) )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    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printf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("Thread creation failed: %d\n",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rtB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);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b="1" dirty="0">
              <a:solidFill>
                <a:srgbClr val="008000"/>
              </a:solidFill>
              <a:latin typeface="Courier New" pitchFamily="49" charset="0"/>
              <a:ea typeface="HG Mincho Light J" pitchFamily="2"/>
              <a:cs typeface="Courier New" pitchFamily="49" charset="0"/>
            </a:endParaRP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8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 /* Wait for both threads to finish */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 </a:t>
            </a:r>
            <a:r>
              <a:rPr lang="en-GB" b="1" dirty="0" err="1">
                <a:solidFill>
                  <a:srgbClr val="8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pthread_join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(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tA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, NULL);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 </a:t>
            </a:r>
            <a:r>
              <a:rPr lang="en-GB" b="1" dirty="0" err="1">
                <a:solidFill>
                  <a:srgbClr val="8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pthread_join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(</a:t>
            </a:r>
            <a:r>
              <a:rPr lang="en-GB" b="1" dirty="0" err="1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tB</a:t>
            </a: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, NULL);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}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050" b="1" dirty="0">
              <a:solidFill>
                <a:srgbClr val="002060"/>
              </a:solidFill>
              <a:ea typeface="HG Mincho Light J" pitchFamily="2"/>
              <a:cs typeface="Courier New" pitchFamily="49" charset="0"/>
            </a:endParaRP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dirty="0">
                <a:solidFill>
                  <a:srgbClr val="002060"/>
                </a:solidFill>
                <a:ea typeface="HG Mincho Light J" pitchFamily="2"/>
                <a:cs typeface="Courier New" pitchFamily="49" charset="0"/>
              </a:rPr>
              <a:t>Can you see the potential race condition and the reason?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938660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Section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lvl="0" indent="0" fontAlgn="auto" hangingPunct="0">
              <a:spcBef>
                <a:spcPts val="50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6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The previous example shows a race condition</a:t>
            </a:r>
          </a:p>
          <a:p>
            <a:pPr marL="342900" lvl="0" indent="-342900" hangingPunct="0">
              <a:spcBef>
                <a:spcPts val="50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6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where multiple threads </a:t>
            </a:r>
            <a:r>
              <a:rPr lang="en-GB" sz="2600" kern="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u</a:t>
            </a:r>
            <a:r>
              <a:rPr lang="en-GB" sz="26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pdate the value of a global (i.e. shared) variable, without synchronization.</a:t>
            </a:r>
          </a:p>
          <a:p>
            <a:pPr marL="0" lvl="0" indent="0" fontAlgn="auto" hangingPunct="0">
              <a:spcBef>
                <a:spcPts val="50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600" dirty="0">
                <a:solidFill>
                  <a:srgbClr val="00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The solution: use </a:t>
            </a:r>
            <a:r>
              <a:rPr lang="en-GB" sz="2600" dirty="0">
                <a:solidFill>
                  <a:srgbClr val="FF0000"/>
                </a:solidFill>
                <a:latin typeface="Arial" pitchFamily="34" charset="0"/>
                <a:ea typeface="HG Mincho Light J" pitchFamily="2"/>
                <a:cs typeface="Arial" pitchFamily="34" charset="0"/>
              </a:rPr>
              <a:t>Critical section.</a:t>
            </a:r>
          </a:p>
          <a:p>
            <a:pPr marL="0" lvl="0" indent="0" fontAlgn="auto" hangingPunct="0">
              <a:spcBef>
                <a:spcPts val="50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2600" dirty="0">
              <a:solidFill>
                <a:srgbClr val="FF0000"/>
              </a:solidFill>
              <a:latin typeface="Arial" pitchFamily="34" charset="0"/>
              <a:ea typeface="HG Mincho Light J" pitchFamily="2"/>
              <a:cs typeface="Arial" pitchFamily="34" charset="0"/>
            </a:endParaRPr>
          </a:p>
          <a:p>
            <a:pPr marL="0" indent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Critical section is the part of a code </a:t>
            </a:r>
          </a:p>
          <a:p>
            <a:pPr marL="342900" indent="-342900">
              <a:spcBef>
                <a:spcPts val="500"/>
              </a:spcBef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where a shared resource can only be accessed</a:t>
            </a:r>
          </a:p>
          <a:p>
            <a:pPr marL="342900" indent="-342900">
              <a:spcBef>
                <a:spcPts val="500"/>
              </a:spcBef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but only by one thread at one time in an </a:t>
            </a:r>
            <a:r>
              <a:rPr lang="en-US" sz="2600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atomic</a:t>
            </a:r>
            <a:r>
              <a:rPr lang="en-US" sz="2600" i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manner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endParaRPr lang="en-US" sz="2600" dirty="0">
              <a:latin typeface="Arial" pitchFamily="34" charset="0"/>
              <a:cs typeface="Arial" pitchFamily="34" charset="0"/>
            </a:endParaRPr>
          </a:p>
          <a:p>
            <a:pPr marL="0" indent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If a critical section is already entered by one thread</a:t>
            </a:r>
          </a:p>
          <a:p>
            <a:pPr marL="342900" indent="-342900">
              <a:spcBef>
                <a:spcPts val="500"/>
              </a:spcBef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the critical section is considered </a:t>
            </a:r>
            <a:r>
              <a:rPr lang="en-US" sz="2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locked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by the thread</a:t>
            </a:r>
          </a:p>
          <a:p>
            <a:pPr marL="342900" indent="-342900">
              <a:spcBef>
                <a:spcPts val="500"/>
              </a:spcBef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any </a:t>
            </a:r>
            <a:r>
              <a:rPr lang="en-US" sz="26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other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thread trying to enter the section will be </a:t>
            </a:r>
            <a:r>
              <a:rPr lang="en-US" sz="26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blocked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342900" indent="-342900">
              <a:spcBef>
                <a:spcPts val="500"/>
              </a:spcBef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until the lock on that critical section is </a:t>
            </a:r>
            <a:r>
              <a:rPr lang="en-US" sz="2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released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by the exit of the first thread.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922670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Mutex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A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mutex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is a simple synchronization primitive ensuring 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mut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ual 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clusion in critical sections.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It allows only one thread to access shared data or execute critical code at a time.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A thread must lock the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mutex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before accessing shared resources and unlock it afterward.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Other threads attempting to lock the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mutex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must wait until it is released.</a:t>
            </a:r>
          </a:p>
          <a:p>
            <a:pPr lvl="1">
              <a:spcAft>
                <a:spcPts val="600"/>
              </a:spcAft>
            </a:pPr>
            <a:r>
              <a:rPr lang="en-US" dirty="0">
                <a:latin typeface="Arial" pitchFamily="34" charset="0"/>
                <a:cs typeface="Arial" pitchFamily="34" charset="0"/>
              </a:rPr>
              <a:t>This keeps threads synchronized and prevents race conditions.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019012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Mutex</a:t>
            </a:r>
            <a:r>
              <a:rPr lang="en-US" dirty="0"/>
              <a:t>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a thread successfully locks the </a:t>
            </a:r>
            <a:r>
              <a:rPr lang="en-US" dirty="0" err="1"/>
              <a:t>mutex</a:t>
            </a:r>
            <a:r>
              <a:rPr lang="en-US" dirty="0"/>
              <a:t>, it becomes the owner.</a:t>
            </a:r>
          </a:p>
          <a:p>
            <a:r>
              <a:rPr lang="en-US" dirty="0"/>
              <a:t>Other threads attempting to lock the </a:t>
            </a:r>
            <a:r>
              <a:rPr lang="en-US" dirty="0" err="1"/>
              <a:t>mutex</a:t>
            </a:r>
            <a:r>
              <a:rPr lang="en-US" dirty="0"/>
              <a:t> will be blocked and typically put to sleep by the OS until the </a:t>
            </a:r>
            <a:r>
              <a:rPr lang="en-US" dirty="0" err="1"/>
              <a:t>mutex</a:t>
            </a:r>
            <a:r>
              <a:rPr lang="en-US" dirty="0"/>
              <a:t> is available.</a:t>
            </a:r>
          </a:p>
          <a:p>
            <a:r>
              <a:rPr lang="en-US" dirty="0"/>
              <a:t>Once the owner unlocks the </a:t>
            </a:r>
            <a:r>
              <a:rPr lang="en-US" dirty="0" err="1"/>
              <a:t>mutex</a:t>
            </a:r>
            <a:r>
              <a:rPr lang="en-US" dirty="0"/>
              <a:t>, one waiting thread (chosen by the OS, possibly at random) gains control and becomes the new owner.</a:t>
            </a:r>
          </a:p>
          <a:p>
            <a:r>
              <a:rPr lang="en-US" dirty="0"/>
              <a:t>At any given time, only one thread can own a </a:t>
            </a:r>
            <a:r>
              <a:rPr lang="en-US" dirty="0" err="1"/>
              <a:t>mutex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06803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</a:t>
            </a:r>
            <a:r>
              <a:rPr lang="en-US" dirty="0" err="1"/>
              <a:t>Mutex</a:t>
            </a:r>
            <a:r>
              <a:rPr lang="en-US" dirty="0"/>
              <a:t> Code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#include &lt;</a:t>
            </a:r>
            <a:r>
              <a:rPr lang="en-GB" b="1" dirty="0" err="1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stdio.h</a:t>
            </a:r>
            <a:r>
              <a:rPr lang="en-GB" b="1" dirty="0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&gt;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#include &lt;</a:t>
            </a:r>
            <a:r>
              <a:rPr lang="en-GB" b="1" dirty="0" err="1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stdlib.h</a:t>
            </a:r>
            <a:r>
              <a:rPr lang="en-GB" b="1" dirty="0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&gt;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#include &lt;</a:t>
            </a:r>
            <a:r>
              <a:rPr lang="en-GB" b="1" dirty="0" err="1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pthread.h</a:t>
            </a:r>
            <a:r>
              <a:rPr lang="en-GB" b="1" dirty="0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&gt;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900" b="1" dirty="0">
              <a:solidFill>
                <a:srgbClr val="999999"/>
              </a:solidFill>
              <a:latin typeface="Courier New" pitchFamily="49" charset="0"/>
              <a:ea typeface="HG Mincho Light J" pitchFamily="2"/>
              <a:cs typeface="Courier New" pitchFamily="49" charset="0"/>
            </a:endParaRP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 err="1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int</a:t>
            </a:r>
            <a:r>
              <a:rPr lang="en-GB" b="1" dirty="0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c = 0;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 err="1">
                <a:solidFill>
                  <a:srgbClr val="FF00FF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pthread_mutex_t</a:t>
            </a:r>
            <a:r>
              <a:rPr lang="en-GB" b="1" dirty="0">
                <a:solidFill>
                  <a:srgbClr val="FF00FF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mutex1</a:t>
            </a:r>
            <a:r>
              <a:rPr lang="en-GB" b="1" dirty="0">
                <a:solidFill>
                  <a:srgbClr val="FF00FF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= PTHREAD_MUTEX_INITIALIZER;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900" b="1" dirty="0">
              <a:solidFill>
                <a:srgbClr val="FF00FF"/>
              </a:solidFill>
              <a:latin typeface="Courier New" pitchFamily="49" charset="0"/>
              <a:ea typeface="HG Mincho Light J" pitchFamily="2"/>
              <a:cs typeface="Courier New" pitchFamily="49" charset="0"/>
            </a:endParaRP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void *</a:t>
            </a:r>
            <a:r>
              <a:rPr lang="en-GB" b="1" dirty="0" err="1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fnC</a:t>
            </a:r>
            <a:r>
              <a:rPr lang="en-GB" b="1" dirty="0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()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{  </a:t>
            </a:r>
            <a:r>
              <a:rPr lang="en-GB" b="1" dirty="0" err="1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int</a:t>
            </a:r>
            <a:r>
              <a:rPr lang="en-GB" b="1" dirty="0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</a:t>
            </a:r>
            <a:r>
              <a:rPr lang="en-GB" b="1" dirty="0" err="1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i</a:t>
            </a:r>
            <a:r>
              <a:rPr lang="en-GB" b="1" dirty="0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 for (</a:t>
            </a:r>
            <a:r>
              <a:rPr lang="en-GB" b="1" dirty="0" err="1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i</a:t>
            </a:r>
            <a:r>
              <a:rPr lang="en-GB" b="1" dirty="0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=0;i&lt;10;i++)   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	{ </a:t>
            </a:r>
            <a:r>
              <a:rPr lang="en-GB" b="1" dirty="0" err="1">
                <a:solidFill>
                  <a:srgbClr val="FF00FF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pthread_mutex_lock</a:t>
            </a:r>
            <a:r>
              <a:rPr lang="en-GB" b="1" dirty="0">
                <a:solidFill>
                  <a:srgbClr val="FF00FF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( </a:t>
            </a:r>
            <a:r>
              <a:rPr lang="en-GB" b="1" dirty="0">
                <a:solidFill>
                  <a:srgbClr val="FF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&amp;mutex1 </a:t>
            </a:r>
            <a:r>
              <a:rPr lang="en-GB" b="1" dirty="0">
                <a:solidFill>
                  <a:srgbClr val="FF00FF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);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     </a:t>
            </a:r>
            <a:r>
              <a:rPr lang="en-GB" b="1" dirty="0" err="1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c++</a:t>
            </a:r>
            <a:r>
              <a:rPr lang="en-GB" b="1" dirty="0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;</a:t>
            </a:r>
          </a:p>
          <a:p>
            <a:pPr marL="0" lvl="0" indent="0" hangingPunc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chemeClr val="bg1">
                    <a:lumMod val="65000"/>
                  </a:schemeClr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     for (j=0; j&lt;5000000;j++);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 	  </a:t>
            </a:r>
            <a:r>
              <a:rPr lang="en-GB" b="1" dirty="0" err="1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printf</a:t>
            </a:r>
            <a:r>
              <a:rPr lang="en-GB" b="1" dirty="0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(" %</a:t>
            </a:r>
            <a:r>
              <a:rPr lang="en-GB" b="1" dirty="0" err="1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d",c</a:t>
            </a:r>
            <a:r>
              <a:rPr lang="en-GB" b="1" dirty="0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);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FF00FF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     </a:t>
            </a:r>
            <a:r>
              <a:rPr lang="en-GB" b="1" dirty="0" err="1">
                <a:solidFill>
                  <a:srgbClr val="FF00FF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pthread_mutex_unlock</a:t>
            </a:r>
            <a:r>
              <a:rPr lang="en-GB" b="1" dirty="0">
                <a:solidFill>
                  <a:srgbClr val="FF00FF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( </a:t>
            </a:r>
            <a:r>
              <a:rPr lang="en-GB" b="1" dirty="0">
                <a:solidFill>
                  <a:srgbClr val="FF0000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&amp;mutex1 </a:t>
            </a:r>
            <a:r>
              <a:rPr lang="en-GB" b="1" dirty="0">
                <a:solidFill>
                  <a:srgbClr val="FF00FF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);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      }</a:t>
            </a:r>
          </a:p>
          <a:p>
            <a:pPr marL="0" lvl="0" indent="0" fontAlgn="auto" hangingPunct="0"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999999"/>
                </a:solidFill>
                <a:latin typeface="Courier New" pitchFamily="49" charset="0"/>
                <a:ea typeface="HG Mincho Light J" pitchFamily="2"/>
                <a:cs typeface="Courier New" pitchFamily="49" charset="0"/>
              </a:rPr>
              <a:t>}</a:t>
            </a:r>
            <a:endParaRPr lang="en-SG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337396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Mutex</a:t>
            </a:r>
            <a:r>
              <a:rPr lang="en-US" dirty="0"/>
              <a:t> Control Functions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Pthreads</a:t>
            </a:r>
            <a:r>
              <a:rPr lang="en-US" dirty="0"/>
              <a:t> provides a special type for </a:t>
            </a:r>
            <a:r>
              <a:rPr lang="en-US" dirty="0" err="1"/>
              <a:t>mutex</a:t>
            </a:r>
            <a:r>
              <a:rPr lang="en-US" dirty="0"/>
              <a:t> declaration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solidFill>
                  <a:srgbClr val="FF0000"/>
                </a:solidFill>
              </a:rPr>
              <a:t>pthread_mutex_t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mutex1;</a:t>
            </a:r>
          </a:p>
          <a:p>
            <a:r>
              <a:rPr lang="en-US" dirty="0"/>
              <a:t>Two methods for initialization: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Using </a:t>
            </a:r>
            <a:r>
              <a:rPr lang="en-US" dirty="0" err="1">
                <a:solidFill>
                  <a:srgbClr val="FF0000"/>
                </a:solidFill>
              </a:rPr>
              <a:t>pthread_mutex_init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rgbClr val="FF0000"/>
                </a:solidFill>
              </a:rPr>
              <a:t>pthread_mutex_init</a:t>
            </a:r>
            <a:r>
              <a:rPr lang="en-US" dirty="0">
                <a:solidFill>
                  <a:srgbClr val="FF0000"/>
                </a:solidFill>
              </a:rPr>
              <a:t>(&amp;mutex1, NULL);</a:t>
            </a:r>
          </a:p>
          <a:p>
            <a:pPr marL="971550" lvl="1" indent="-514350">
              <a:buFont typeface="+mj-lt"/>
              <a:buAutoNum type="arabicPeriod" startAt="2"/>
            </a:pPr>
            <a:r>
              <a:rPr lang="en-US" dirty="0"/>
              <a:t>Using the default macro </a:t>
            </a:r>
            <a:r>
              <a:rPr lang="en-US" dirty="0">
                <a:solidFill>
                  <a:srgbClr val="FF0000"/>
                </a:solidFill>
              </a:rPr>
              <a:t>PTHREAD_MUTEX_INITIALIZER</a:t>
            </a:r>
          </a:p>
          <a:p>
            <a:r>
              <a:rPr lang="en-US" dirty="0"/>
              <a:t> A thread locks a </a:t>
            </a:r>
            <a:r>
              <a:rPr lang="en-US" dirty="0" err="1"/>
              <a:t>mutex</a:t>
            </a:r>
            <a:r>
              <a:rPr lang="en-US" dirty="0"/>
              <a:t> using </a:t>
            </a:r>
            <a:r>
              <a:rPr lang="en-US" dirty="0" err="1">
                <a:solidFill>
                  <a:srgbClr val="FF0000"/>
                </a:solidFill>
              </a:rPr>
              <a:t>pthread_mutex_lock</a:t>
            </a:r>
            <a:r>
              <a:rPr lang="en-US" dirty="0">
                <a:solidFill>
                  <a:srgbClr val="FF0000"/>
                </a:solidFill>
              </a:rPr>
              <a:t>()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If no other thread owns the </a:t>
            </a:r>
            <a:r>
              <a:rPr lang="en-US" dirty="0" err="1"/>
              <a:t>mutex</a:t>
            </a:r>
            <a:r>
              <a:rPr lang="en-US" dirty="0"/>
              <a:t>, the calling thread gains ownership.</a:t>
            </a:r>
          </a:p>
          <a:p>
            <a:pPr lvl="1"/>
            <a:r>
              <a:rPr lang="en-US" dirty="0"/>
              <a:t>If the </a:t>
            </a:r>
            <a:r>
              <a:rPr lang="en-US" dirty="0" err="1"/>
              <a:t>mutex</a:t>
            </a:r>
            <a:r>
              <a:rPr lang="en-US" dirty="0"/>
              <a:t> is already locked, the thread is blocked (put to sleep by the OS) until the </a:t>
            </a:r>
            <a:r>
              <a:rPr lang="en-US" dirty="0" err="1"/>
              <a:t>mutex</a:t>
            </a:r>
            <a:r>
              <a:rPr lang="en-US" dirty="0"/>
              <a:t> is released.	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743318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Mutex</a:t>
            </a:r>
            <a:r>
              <a:rPr lang="en-US" dirty="0"/>
              <a:t> Control Functions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The owning thread releases the 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mutex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using </a:t>
            </a:r>
            <a:r>
              <a:rPr lang="en-US" sz="32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pthread_mutex_unlock</a:t>
            </a:r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  <a:endParaRPr lang="en-US" sz="1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800100" lvl="1" indent="-342900"/>
            <a:r>
              <a:rPr lang="en-US" sz="2800" dirty="0">
                <a:latin typeface="Arial" pitchFamily="34" charset="0"/>
                <a:cs typeface="Arial" pitchFamily="34" charset="0"/>
              </a:rPr>
              <a:t>Only the owner can unlock the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mutex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800100" lvl="1" indent="-342900"/>
            <a:r>
              <a:rPr lang="en-US" sz="2800" dirty="0">
                <a:latin typeface="Arial" pitchFamily="34" charset="0"/>
                <a:cs typeface="Arial" pitchFamily="34" charset="0"/>
              </a:rPr>
              <a:t>Unlocking allows a waiting thread to acquire the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mutex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457200" lvl="1" indent="0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/>
            <a:r>
              <a:rPr lang="en-US" sz="3200" dirty="0">
                <a:latin typeface="Arial" pitchFamily="34" charset="0"/>
                <a:cs typeface="Arial" pitchFamily="34" charset="0"/>
              </a:rPr>
              <a:t>When the 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mutex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is no longer needed, it should be destroyed using </a:t>
            </a:r>
            <a:r>
              <a:rPr lang="en-US" sz="32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pthread_mutex_destroy</a:t>
            </a:r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().</a:t>
            </a:r>
          </a:p>
          <a:p>
            <a:pPr marL="800100" lvl="1" indent="-342900"/>
            <a:r>
              <a:rPr lang="en-US" sz="2800" dirty="0">
                <a:latin typeface="Arial" pitchFamily="34" charset="0"/>
                <a:cs typeface="Arial" pitchFamily="34" charset="0"/>
              </a:rPr>
              <a:t>Typically done in the 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thread to free resources.</a:t>
            </a:r>
          </a:p>
        </p:txBody>
      </p:sp>
    </p:spTree>
    <p:extLst>
      <p:ext uri="{BB962C8B-B14F-4D97-AF65-F5344CB8AC3E}">
        <p14:creationId xmlns:p14="http://schemas.microsoft.com/office/powerpoint/2010/main" val="25772529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400" dirty="0"/>
              <a:t>Semaphore is another mechanism that is commonly used for multithreading application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400" dirty="0"/>
              <a:t>it provides </a:t>
            </a:r>
            <a:r>
              <a:rPr lang="en-US" sz="2400" dirty="0">
                <a:solidFill>
                  <a:srgbClr val="FF0000"/>
                </a:solidFill>
              </a:rPr>
              <a:t>event notification </a:t>
            </a:r>
            <a:r>
              <a:rPr lang="en-US" sz="2400" dirty="0"/>
              <a:t>as well as </a:t>
            </a:r>
            <a:r>
              <a:rPr lang="en-US" sz="2400" dirty="0">
                <a:solidFill>
                  <a:srgbClr val="FF0000"/>
                </a:solidFill>
              </a:rPr>
              <a:t>synchronization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400" dirty="0"/>
              <a:t>useful for </a:t>
            </a:r>
            <a:r>
              <a:rPr lang="en-US" sz="2400" dirty="0">
                <a:solidFill>
                  <a:srgbClr val="FF0000"/>
                </a:solidFill>
              </a:rPr>
              <a:t>signaling purpose between tasks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endParaRPr lang="en-US" sz="2400" dirty="0">
              <a:solidFill>
                <a:srgbClr val="002060"/>
              </a:solidFill>
              <a:latin typeface="Arial" pitchFamily="34" charset="0"/>
              <a:ea typeface="HG Mincho Light J" pitchFamily="2"/>
              <a:cs typeface="Arial" pitchFamily="34" charset="0"/>
            </a:endParaRPr>
          </a:p>
          <a:p>
            <a:pPr marL="0" inden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400" dirty="0"/>
              <a:t>In embedded systems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400" dirty="0"/>
              <a:t>semaphores can also be used to signal from an interrupt service routine (ISR) to a task</a:t>
            </a:r>
            <a:r>
              <a:rPr lang="en-US" sz="2400" dirty="0">
                <a:solidFill>
                  <a:srgbClr val="00206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24705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 Controls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hangingPunc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dirty="0">
                <a:cs typeface="Arial" pitchFamily="34" charset="0"/>
              </a:rPr>
              <a:t>Semaphore is NOT part of </a:t>
            </a:r>
            <a:r>
              <a:rPr lang="en-US" dirty="0" err="1">
                <a:cs typeface="Arial" pitchFamily="34" charset="0"/>
              </a:rPr>
              <a:t>Pthread</a:t>
            </a:r>
            <a:endParaRPr lang="en-US" dirty="0">
              <a:cs typeface="Arial" pitchFamily="34" charset="0"/>
            </a:endParaRPr>
          </a:p>
          <a:p>
            <a:pPr marL="342900" indent="-34290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dirty="0">
                <a:cs typeface="Arial" pitchFamily="34" charset="0"/>
              </a:rPr>
              <a:t>include the header file: </a:t>
            </a:r>
            <a:r>
              <a:rPr lang="en-US" dirty="0">
                <a:solidFill>
                  <a:srgbClr val="FF0000"/>
                </a:solidFill>
              </a:rPr>
              <a:t>&lt;</a:t>
            </a:r>
            <a:r>
              <a:rPr lang="en-US" dirty="0" err="1">
                <a:solidFill>
                  <a:srgbClr val="FF0000"/>
                </a:solidFill>
              </a:rPr>
              <a:t>semaphore.h</a:t>
            </a:r>
            <a:r>
              <a:rPr lang="en-US" dirty="0">
                <a:solidFill>
                  <a:srgbClr val="FF0000"/>
                </a:solidFill>
              </a:rPr>
              <a:t>&gt; </a:t>
            </a:r>
          </a:p>
          <a:p>
            <a:pPr marL="0" indent="0" hangingPunc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endParaRPr lang="en-US" sz="900" dirty="0">
              <a:solidFill>
                <a:srgbClr val="0000FF"/>
              </a:solidFill>
            </a:endParaRPr>
          </a:p>
          <a:p>
            <a:pPr marL="0" indent="0" hangingPunc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dirty="0"/>
              <a:t>It defines the </a:t>
            </a:r>
            <a:r>
              <a:rPr lang="en-US" dirty="0" err="1">
                <a:solidFill>
                  <a:srgbClr val="FF0000"/>
                </a:solidFill>
              </a:rPr>
              <a:t>sem_t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type used to declare a semaphore variable, and also provide the following main control functions:</a:t>
            </a:r>
          </a:p>
          <a:p>
            <a:pPr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endParaRPr lang="en-US" sz="1050" dirty="0">
              <a:cs typeface="Arial" pitchFamily="34" charset="0"/>
            </a:endParaRPr>
          </a:p>
          <a:p>
            <a:pPr marL="0" indent="0" hangingPunc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dirty="0" err="1">
                <a:cs typeface="Arial" pitchFamily="34" charset="0"/>
              </a:rPr>
              <a:t>int</a:t>
            </a:r>
            <a:r>
              <a:rPr lang="en-US" dirty="0">
                <a:cs typeface="Arial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cs typeface="Arial" pitchFamily="34" charset="0"/>
              </a:rPr>
              <a:t>sem_init</a:t>
            </a:r>
            <a:r>
              <a:rPr lang="en-US" dirty="0">
                <a:cs typeface="Arial" pitchFamily="34" charset="0"/>
              </a:rPr>
              <a:t>(</a:t>
            </a:r>
            <a:r>
              <a:rPr lang="en-US" dirty="0" err="1">
                <a:cs typeface="Arial" pitchFamily="34" charset="0"/>
              </a:rPr>
              <a:t>sem_t</a:t>
            </a:r>
            <a:r>
              <a:rPr lang="en-US" dirty="0">
                <a:cs typeface="Arial" pitchFamily="34" charset="0"/>
              </a:rPr>
              <a:t> *</a:t>
            </a:r>
            <a:r>
              <a:rPr lang="en-US" i="1" dirty="0" err="1">
                <a:cs typeface="Arial" pitchFamily="34" charset="0"/>
              </a:rPr>
              <a:t>sem</a:t>
            </a:r>
            <a:r>
              <a:rPr lang="en-US" dirty="0">
                <a:cs typeface="Arial" pitchFamily="34" charset="0"/>
              </a:rPr>
              <a:t>, </a:t>
            </a:r>
            <a:r>
              <a:rPr lang="en-US" dirty="0" err="1">
                <a:cs typeface="Arial" pitchFamily="34" charset="0"/>
              </a:rPr>
              <a:t>int</a:t>
            </a:r>
            <a:r>
              <a:rPr lang="en-US" dirty="0">
                <a:cs typeface="Arial" pitchFamily="34" charset="0"/>
              </a:rPr>
              <a:t> </a:t>
            </a:r>
            <a:r>
              <a:rPr lang="en-US" i="1" dirty="0" err="1">
                <a:cs typeface="Arial" pitchFamily="34" charset="0"/>
              </a:rPr>
              <a:t>pshared</a:t>
            </a:r>
            <a:r>
              <a:rPr lang="en-US" dirty="0">
                <a:cs typeface="Arial" pitchFamily="34" charset="0"/>
              </a:rPr>
              <a:t>, unsigned </a:t>
            </a:r>
            <a:r>
              <a:rPr lang="en-US" dirty="0" err="1">
                <a:cs typeface="Arial" pitchFamily="34" charset="0"/>
              </a:rPr>
              <a:t>int</a:t>
            </a:r>
            <a:r>
              <a:rPr lang="en-US" dirty="0">
                <a:cs typeface="Arial" pitchFamily="34" charset="0"/>
              </a:rPr>
              <a:t> </a:t>
            </a:r>
            <a:r>
              <a:rPr lang="en-US" i="1" dirty="0">
                <a:cs typeface="Arial" pitchFamily="34" charset="0"/>
              </a:rPr>
              <a:t>value</a:t>
            </a:r>
            <a:r>
              <a:rPr lang="en-US" dirty="0">
                <a:cs typeface="Arial" pitchFamily="34" charset="0"/>
              </a:rPr>
              <a:t>);</a:t>
            </a:r>
          </a:p>
          <a:p>
            <a:pPr marL="342900" indent="-34290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dirty="0">
                <a:cs typeface="Arial" pitchFamily="34" charset="0"/>
              </a:rPr>
              <a:t>use to initialize the semaphore’s value</a:t>
            </a:r>
          </a:p>
          <a:p>
            <a:pPr marL="342900" indent="-34290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kern="0" dirty="0">
                <a:solidFill>
                  <a:srgbClr val="000000"/>
                </a:solidFill>
                <a:cs typeface="Arial" pitchFamily="34" charset="0"/>
              </a:rPr>
              <a:t>argument </a:t>
            </a:r>
            <a:r>
              <a:rPr lang="en-US" i="1" dirty="0" err="1">
                <a:cs typeface="Arial" pitchFamily="34" charset="0"/>
              </a:rPr>
              <a:t>pshared</a:t>
            </a:r>
            <a:r>
              <a:rPr lang="en-US" dirty="0">
                <a:cs typeface="Arial" pitchFamily="34" charset="0"/>
              </a:rPr>
              <a:t> = 0 for semaphores local to a process</a:t>
            </a:r>
          </a:p>
          <a:p>
            <a:pPr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endParaRPr lang="en-US" sz="1050" dirty="0">
              <a:cs typeface="Arial" pitchFamily="34" charset="0"/>
            </a:endParaRPr>
          </a:p>
          <a:p>
            <a:pPr marL="0" indent="0" hangingPunc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dirty="0" err="1">
                <a:cs typeface="Arial" pitchFamily="34" charset="0"/>
              </a:rPr>
              <a:t>int</a:t>
            </a:r>
            <a:r>
              <a:rPr lang="en-US" dirty="0">
                <a:cs typeface="Arial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cs typeface="Arial" pitchFamily="34" charset="0"/>
              </a:rPr>
              <a:t>sem_wait</a:t>
            </a:r>
            <a:r>
              <a:rPr lang="en-US" dirty="0">
                <a:cs typeface="Arial" pitchFamily="34" charset="0"/>
              </a:rPr>
              <a:t>(</a:t>
            </a:r>
            <a:r>
              <a:rPr lang="en-US" dirty="0" err="1">
                <a:cs typeface="Arial" pitchFamily="34" charset="0"/>
              </a:rPr>
              <a:t>sem_t</a:t>
            </a:r>
            <a:r>
              <a:rPr lang="en-US" dirty="0">
                <a:cs typeface="Arial" pitchFamily="34" charset="0"/>
              </a:rPr>
              <a:t> * </a:t>
            </a:r>
            <a:r>
              <a:rPr lang="en-US" i="1" dirty="0" err="1">
                <a:cs typeface="Arial" pitchFamily="34" charset="0"/>
              </a:rPr>
              <a:t>sem</a:t>
            </a:r>
            <a:r>
              <a:rPr lang="en-US" dirty="0">
                <a:cs typeface="Arial" pitchFamily="34" charset="0"/>
              </a:rPr>
              <a:t>)</a:t>
            </a:r>
          </a:p>
          <a:p>
            <a:pPr marL="342900" indent="-34290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dirty="0">
                <a:cs typeface="Arial" pitchFamily="34" charset="0"/>
              </a:rPr>
              <a:t>perform the equivalent operation of decrementing the semaphore value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40852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 Controls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hangingPunc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400" kern="0" dirty="0" err="1">
                <a:solidFill>
                  <a:srgbClr val="000000"/>
                </a:solidFill>
                <a:cs typeface="Arial" pitchFamily="34" charset="0"/>
              </a:rPr>
              <a:t>int</a:t>
            </a:r>
            <a:r>
              <a:rPr lang="en-US" sz="2400" kern="0" dirty="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sz="2400" kern="0" dirty="0" err="1">
                <a:solidFill>
                  <a:srgbClr val="FF0000"/>
                </a:solidFill>
                <a:cs typeface="Arial" pitchFamily="34" charset="0"/>
              </a:rPr>
              <a:t>sem_post</a:t>
            </a:r>
            <a:r>
              <a:rPr lang="en-US" sz="2400" kern="0" dirty="0">
                <a:solidFill>
                  <a:srgbClr val="000000"/>
                </a:solidFill>
                <a:cs typeface="Arial" pitchFamily="34" charset="0"/>
              </a:rPr>
              <a:t>(</a:t>
            </a:r>
            <a:r>
              <a:rPr lang="en-US" sz="2400" kern="0" dirty="0" err="1">
                <a:solidFill>
                  <a:srgbClr val="000000"/>
                </a:solidFill>
                <a:cs typeface="Arial" pitchFamily="34" charset="0"/>
              </a:rPr>
              <a:t>sem_t</a:t>
            </a:r>
            <a:r>
              <a:rPr lang="en-US" sz="2400" kern="0" dirty="0">
                <a:solidFill>
                  <a:srgbClr val="000000"/>
                </a:solidFill>
                <a:cs typeface="Arial" pitchFamily="34" charset="0"/>
              </a:rPr>
              <a:t> * </a:t>
            </a:r>
            <a:r>
              <a:rPr lang="en-US" sz="2400" i="1" kern="0" dirty="0" err="1">
                <a:solidFill>
                  <a:srgbClr val="000000"/>
                </a:solidFill>
                <a:cs typeface="Arial" pitchFamily="34" charset="0"/>
              </a:rPr>
              <a:t>sem</a:t>
            </a:r>
            <a:r>
              <a:rPr lang="en-US" sz="2400" kern="0" dirty="0">
                <a:solidFill>
                  <a:srgbClr val="000000"/>
                </a:solidFill>
                <a:cs typeface="Arial" pitchFamily="34" charset="0"/>
              </a:rPr>
              <a:t>)</a:t>
            </a:r>
          </a:p>
          <a:p>
            <a:pPr marL="342900" indent="-34290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400" kern="0" dirty="0">
                <a:solidFill>
                  <a:srgbClr val="000000"/>
                </a:solidFill>
                <a:cs typeface="Arial" pitchFamily="34" charset="0"/>
              </a:rPr>
              <a:t>perform the equivalent operation of incrementing the semaphore value</a:t>
            </a:r>
            <a:endParaRPr lang="en-US" sz="2400" kern="0" dirty="0">
              <a:solidFill>
                <a:srgbClr val="000000"/>
              </a:solidFill>
            </a:endParaRPr>
          </a:p>
          <a:p>
            <a:pPr marL="0" indent="0" hangingPunc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endParaRPr lang="en-US" sz="2400" dirty="0">
              <a:cs typeface="Arial" pitchFamily="34" charset="0"/>
            </a:endParaRPr>
          </a:p>
          <a:p>
            <a:pPr marL="0" indent="0">
              <a:buNone/>
            </a:pPr>
            <a:r>
              <a:rPr lang="en-US" sz="2400" dirty="0" err="1">
                <a:cs typeface="Arial" pitchFamily="34" charset="0"/>
              </a:rPr>
              <a:t>int</a:t>
            </a:r>
            <a:r>
              <a:rPr lang="en-US" sz="2400" dirty="0"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cs typeface="Arial" pitchFamily="34" charset="0"/>
              </a:rPr>
              <a:t>sem_getvalue</a:t>
            </a:r>
            <a:r>
              <a:rPr lang="en-US" sz="2400" dirty="0">
                <a:cs typeface="Arial" pitchFamily="34" charset="0"/>
              </a:rPr>
              <a:t>(</a:t>
            </a:r>
            <a:r>
              <a:rPr lang="en-US" sz="2400" dirty="0" err="1">
                <a:cs typeface="Arial" pitchFamily="34" charset="0"/>
              </a:rPr>
              <a:t>sem_t</a:t>
            </a:r>
            <a:r>
              <a:rPr lang="en-US" sz="2400" dirty="0">
                <a:cs typeface="Arial" pitchFamily="34" charset="0"/>
              </a:rPr>
              <a:t> *</a:t>
            </a:r>
            <a:r>
              <a:rPr lang="en-US" sz="2400" i="1" dirty="0" err="1">
                <a:cs typeface="Arial" pitchFamily="34" charset="0"/>
              </a:rPr>
              <a:t>sem</a:t>
            </a:r>
            <a:r>
              <a:rPr lang="en-US" sz="2400" dirty="0">
                <a:cs typeface="Arial" pitchFamily="34" charset="0"/>
              </a:rPr>
              <a:t>, </a:t>
            </a:r>
            <a:r>
              <a:rPr lang="en-US" sz="2400" dirty="0" err="1">
                <a:cs typeface="Arial" pitchFamily="34" charset="0"/>
              </a:rPr>
              <a:t>int</a:t>
            </a:r>
            <a:r>
              <a:rPr lang="en-US" sz="2400" dirty="0">
                <a:cs typeface="Arial" pitchFamily="34" charset="0"/>
              </a:rPr>
              <a:t> *</a:t>
            </a:r>
            <a:r>
              <a:rPr lang="en-US" sz="2400" i="1" dirty="0" err="1">
                <a:cs typeface="Arial" pitchFamily="34" charset="0"/>
              </a:rPr>
              <a:t>valp</a:t>
            </a:r>
            <a:r>
              <a:rPr lang="en-US" sz="2400" dirty="0">
                <a:cs typeface="Arial" pitchFamily="34" charset="0"/>
              </a:rPr>
              <a:t>)</a:t>
            </a:r>
          </a:p>
          <a:p>
            <a:pPr marL="342900" indent="-342900"/>
            <a:r>
              <a:rPr lang="en-US" sz="2400" dirty="0">
                <a:cs typeface="Arial" pitchFamily="34" charset="0"/>
              </a:rPr>
              <a:t>gets the current value of semaphore</a:t>
            </a:r>
          </a:p>
          <a:p>
            <a:pPr marL="0" indent="0" hangingPunc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br>
              <a:rPr lang="en-US" sz="2400" dirty="0">
                <a:cs typeface="Arial" pitchFamily="34" charset="0"/>
              </a:rPr>
            </a:br>
            <a:r>
              <a:rPr lang="en-US" sz="2400" dirty="0" err="1">
                <a:cs typeface="Arial" pitchFamily="34" charset="0"/>
              </a:rPr>
              <a:t>int</a:t>
            </a:r>
            <a:r>
              <a:rPr lang="en-US" sz="2400" dirty="0"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cs typeface="Arial" pitchFamily="34" charset="0"/>
              </a:rPr>
              <a:t>sem_destroy</a:t>
            </a:r>
            <a:r>
              <a:rPr lang="en-US" sz="2400" dirty="0">
                <a:cs typeface="Arial" pitchFamily="34" charset="0"/>
              </a:rPr>
              <a:t>(</a:t>
            </a:r>
            <a:r>
              <a:rPr lang="en-US" sz="2400" dirty="0" err="1">
                <a:cs typeface="Arial" pitchFamily="34" charset="0"/>
              </a:rPr>
              <a:t>sem_t</a:t>
            </a:r>
            <a:r>
              <a:rPr lang="en-US" sz="2400" dirty="0">
                <a:cs typeface="Arial" pitchFamily="34" charset="0"/>
              </a:rPr>
              <a:t> * </a:t>
            </a:r>
            <a:r>
              <a:rPr lang="en-US" sz="2400" i="1" dirty="0" err="1">
                <a:cs typeface="Arial" pitchFamily="34" charset="0"/>
              </a:rPr>
              <a:t>sem</a:t>
            </a:r>
            <a:r>
              <a:rPr lang="en-US" sz="2400" dirty="0">
                <a:cs typeface="Arial" pitchFamily="34" charset="0"/>
              </a:rPr>
              <a:t>)</a:t>
            </a:r>
          </a:p>
          <a:p>
            <a:pPr marL="342900" indent="-34290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400" dirty="0">
                <a:cs typeface="Arial" pitchFamily="34" charset="0"/>
              </a:rPr>
              <a:t>use to properly deallocate a semaphore (no thread </a:t>
            </a:r>
            <a:r>
              <a:rPr lang="en-US" sz="2400" dirty="0">
                <a:solidFill>
                  <a:srgbClr val="000000"/>
                </a:solidFill>
                <a:ea typeface="HG Mincho Light J" pitchFamily="2"/>
                <a:cs typeface="Arial" pitchFamily="34" charset="0"/>
              </a:rPr>
              <a:t>would wait for the semaphore)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264727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Snippet - Binary Semaphore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SG" dirty="0"/>
              <a:t>#include &lt;</a:t>
            </a:r>
            <a:r>
              <a:rPr lang="en-SG" dirty="0" err="1"/>
              <a:t>pthread.h</a:t>
            </a:r>
            <a:r>
              <a:rPr lang="en-SG" dirty="0"/>
              <a:t>&gt;</a:t>
            </a:r>
          </a:p>
          <a:p>
            <a:pPr marL="0" indent="0">
              <a:buNone/>
            </a:pPr>
            <a:r>
              <a:rPr lang="en-SG" dirty="0"/>
              <a:t>#include &lt;</a:t>
            </a:r>
            <a:r>
              <a:rPr lang="en-SG" dirty="0" err="1"/>
              <a:t>semaphore.h</a:t>
            </a:r>
            <a:r>
              <a:rPr lang="en-SG" dirty="0"/>
              <a:t>&gt;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 err="1"/>
              <a:t>int</a:t>
            </a:r>
            <a:r>
              <a:rPr lang="en-SG" dirty="0"/>
              <a:t> c = 0;</a:t>
            </a:r>
          </a:p>
          <a:p>
            <a:pPr marL="0" indent="0">
              <a:buNone/>
            </a:pPr>
            <a:r>
              <a:rPr lang="en-SG" dirty="0" err="1"/>
              <a:t>sem_t</a:t>
            </a:r>
            <a:r>
              <a:rPr lang="en-SG" dirty="0"/>
              <a:t> </a:t>
            </a:r>
            <a:r>
              <a:rPr lang="en-SG" dirty="0" err="1"/>
              <a:t>sem_mutex</a:t>
            </a:r>
            <a:r>
              <a:rPr lang="en-SG" dirty="0"/>
              <a:t>;     // i.e. a </a:t>
            </a:r>
            <a:r>
              <a:rPr lang="en-SG" dirty="0" err="1"/>
              <a:t>mutex</a:t>
            </a:r>
            <a:r>
              <a:rPr lang="en-SG" dirty="0"/>
              <a:t> semaphore</a:t>
            </a:r>
          </a:p>
          <a:p>
            <a:pPr marL="0" indent="0">
              <a:buNone/>
            </a:pPr>
            <a:r>
              <a:rPr lang="en-SG" dirty="0"/>
              <a:t>void </a:t>
            </a:r>
            <a:r>
              <a:rPr lang="en-SG" dirty="0" err="1"/>
              <a:t>fnC</a:t>
            </a:r>
            <a:r>
              <a:rPr lang="en-SG" dirty="0"/>
              <a:t>(char k, </a:t>
            </a:r>
            <a:r>
              <a:rPr lang="en-SG" dirty="0" err="1"/>
              <a:t>int</a:t>
            </a:r>
            <a:r>
              <a:rPr lang="en-SG" dirty="0"/>
              <a:t> p) </a:t>
            </a:r>
          </a:p>
          <a:p>
            <a:pPr marL="0" indent="0">
              <a:buNone/>
            </a:pPr>
            <a:r>
              <a:rPr lang="en-SG" dirty="0"/>
              <a:t>{ </a:t>
            </a:r>
            <a:r>
              <a:rPr lang="en-SG" dirty="0" err="1"/>
              <a:t>int</a:t>
            </a:r>
            <a:r>
              <a:rPr lang="en-SG" dirty="0"/>
              <a:t> </a:t>
            </a:r>
            <a:r>
              <a:rPr lang="en-SG" dirty="0" err="1"/>
              <a:t>i</a:t>
            </a:r>
            <a:r>
              <a:rPr lang="en-SG" dirty="0"/>
              <a:t>, temp;</a:t>
            </a:r>
          </a:p>
          <a:p>
            <a:pPr marL="0" indent="0">
              <a:buNone/>
            </a:pPr>
            <a:r>
              <a:rPr lang="en-SG" dirty="0"/>
              <a:t>  for (</a:t>
            </a:r>
            <a:r>
              <a:rPr lang="en-SG" dirty="0" err="1"/>
              <a:t>i</a:t>
            </a:r>
            <a:r>
              <a:rPr lang="en-SG" dirty="0"/>
              <a:t>=0;i&lt;</a:t>
            </a:r>
            <a:r>
              <a:rPr lang="en-SG" dirty="0" err="1"/>
              <a:t>p;i</a:t>
            </a:r>
            <a:r>
              <a:rPr lang="en-SG" dirty="0"/>
              <a:t>++)   </a:t>
            </a:r>
          </a:p>
          <a:p>
            <a:pPr marL="0" indent="0">
              <a:buNone/>
            </a:pPr>
            <a:r>
              <a:rPr lang="en-SG" dirty="0"/>
              <a:t>	    { </a:t>
            </a:r>
            <a:r>
              <a:rPr lang="en-SG" dirty="0" err="1"/>
              <a:t>sem_wait</a:t>
            </a:r>
            <a:r>
              <a:rPr lang="en-SG" dirty="0"/>
              <a:t> (&amp;</a:t>
            </a:r>
            <a:r>
              <a:rPr lang="en-SG" dirty="0" err="1"/>
              <a:t>sem_mutex</a:t>
            </a:r>
            <a:r>
              <a:rPr lang="en-SG" dirty="0"/>
              <a:t>);</a:t>
            </a:r>
          </a:p>
          <a:p>
            <a:pPr marL="0" indent="0">
              <a:buNone/>
            </a:pPr>
            <a:r>
              <a:rPr lang="en-SG" dirty="0"/>
              <a:t>		 temp=c;</a:t>
            </a:r>
          </a:p>
          <a:p>
            <a:pPr marL="0" indent="0">
              <a:buNone/>
            </a:pPr>
            <a:r>
              <a:rPr lang="en-SG" dirty="0"/>
              <a:t>		 temp=temp+1;</a:t>
            </a:r>
          </a:p>
          <a:p>
            <a:pPr marL="0" indent="0">
              <a:buNone/>
            </a:pPr>
            <a:r>
              <a:rPr lang="en-SG" dirty="0"/>
              <a:t>		 c=temp;</a:t>
            </a:r>
          </a:p>
          <a:p>
            <a:pPr marL="0" indent="0">
              <a:buNone/>
            </a:pPr>
            <a:r>
              <a:rPr lang="en-SG" dirty="0"/>
              <a:t>		 </a:t>
            </a:r>
            <a:r>
              <a:rPr lang="en-SG" dirty="0" err="1"/>
              <a:t>sem_post</a:t>
            </a:r>
            <a:r>
              <a:rPr lang="en-SG" dirty="0"/>
              <a:t> (&amp;</a:t>
            </a:r>
            <a:r>
              <a:rPr lang="en-SG" dirty="0" err="1"/>
              <a:t>sem_mutex</a:t>
            </a:r>
            <a:r>
              <a:rPr lang="en-SG" dirty="0"/>
              <a:t>);</a:t>
            </a:r>
          </a:p>
          <a:p>
            <a:pPr marL="0" indent="0">
              <a:buNone/>
            </a:pPr>
            <a:r>
              <a:rPr lang="en-SG" dirty="0"/>
              <a:t>    }</a:t>
            </a:r>
          </a:p>
          <a:p>
            <a:pPr marL="0" indent="0">
              <a:buNone/>
            </a:pPr>
            <a:r>
              <a:rPr lang="en-SG" dirty="0"/>
              <a:t>}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498542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Semaphore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void *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tAf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() { </a:t>
            </a:r>
            <a:r>
              <a:rPr lang="en-GB" b="1" dirty="0" err="1">
                <a:solidFill>
                  <a:srgbClr val="C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fnC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('A',</a:t>
            </a:r>
            <a:r>
              <a:rPr lang="en-GB" b="1" dirty="0">
                <a:solidFill>
                  <a:srgbClr val="00B05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1000000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); }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void *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tBf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() { </a:t>
            </a:r>
            <a:r>
              <a:rPr lang="en-GB" b="1" dirty="0" err="1">
                <a:solidFill>
                  <a:srgbClr val="C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fnC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('B', </a:t>
            </a:r>
            <a:r>
              <a:rPr lang="en-GB" b="1" dirty="0">
                <a:solidFill>
                  <a:srgbClr val="00B05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500000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); }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900" b="1" dirty="0">
              <a:solidFill>
                <a:srgbClr val="000000"/>
              </a:solidFill>
              <a:latin typeface="Courier New" panose="02070309020205020404" pitchFamily="49" charset="0"/>
              <a:ea typeface="HG Mincho Light J" pitchFamily="2"/>
              <a:cs typeface="Courier New" panose="02070309020205020404" pitchFamily="49" charset="0"/>
            </a:endParaRP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main() 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{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int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rtA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,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rtB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;</a:t>
            </a:r>
          </a:p>
          <a:p>
            <a:pPr marL="0" lvl="0" indent="0" hangingPunct="0">
              <a:buNone/>
              <a:tabLst>
                <a:tab pos="22225" algn="l"/>
                <a:tab pos="23653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		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pthread_t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tA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,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tB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;</a:t>
            </a:r>
          </a:p>
          <a:p>
            <a:pPr marL="0" lvl="0" indent="0" hangingPunct="0">
              <a:buNone/>
              <a:tabLst>
                <a:tab pos="22225" algn="l"/>
                <a:tab pos="23653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900" b="1" dirty="0">
              <a:solidFill>
                <a:srgbClr val="000000"/>
              </a:solidFill>
              <a:latin typeface="Courier New" panose="02070309020205020404" pitchFamily="49" charset="0"/>
              <a:ea typeface="HG Mincho Light J" pitchFamily="2"/>
              <a:cs typeface="Courier New" panose="02070309020205020404" pitchFamily="49" charset="0"/>
            </a:endParaRPr>
          </a:p>
          <a:p>
            <a:pPr marL="0" lvl="0" indent="0" hangingPunct="0">
              <a:buNone/>
              <a:tabLst>
                <a:tab pos="22225" algn="l"/>
                <a:tab pos="23653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	 </a:t>
            </a:r>
            <a:r>
              <a:rPr lang="en-GB" b="1" dirty="0" err="1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sem_init</a:t>
            </a: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(&amp;</a:t>
            </a:r>
            <a:r>
              <a:rPr lang="en-GB" b="1" dirty="0" err="1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sem_mutex</a:t>
            </a: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, 0, 1); // initial value = 1</a:t>
            </a:r>
          </a:p>
          <a:p>
            <a:pPr marL="0" lvl="0" indent="0" hangingPunct="0">
              <a:buNone/>
              <a:tabLst>
                <a:tab pos="22225" algn="l"/>
                <a:tab pos="23653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/* Create two threads , A and B */</a:t>
            </a:r>
          </a:p>
          <a:p>
            <a:pPr marL="0" lvl="0" indent="0" hangingPunct="0">
              <a:buNone/>
              <a:tabLst>
                <a:tab pos="22225" algn="l"/>
                <a:tab pos="23653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pthread_create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( &amp;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tA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, NULL, (void *)&amp;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tAf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, NULL);</a:t>
            </a:r>
          </a:p>
          <a:p>
            <a:pPr marL="0" lvl="0" indent="0" hangingPunct="0">
              <a:buNone/>
              <a:tabLst>
                <a:tab pos="22225" algn="l"/>
                <a:tab pos="23653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pthread_create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( &amp;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tB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, NULL, (void *)&amp;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tBf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, NULL);</a:t>
            </a:r>
          </a:p>
          <a:p>
            <a:pPr marL="0" lvl="0" indent="0" hangingPunct="0">
              <a:buNone/>
              <a:tabLst>
                <a:tab pos="22225" algn="l"/>
                <a:tab pos="23653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900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	</a:t>
            </a:r>
          </a:p>
          <a:p>
            <a:pPr marL="0" lvl="0" indent="0" hangingPunct="0">
              <a:buNone/>
              <a:tabLst>
                <a:tab pos="22225" algn="l"/>
                <a:tab pos="23653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/* Wait for both threads to finish */</a:t>
            </a:r>
          </a:p>
          <a:p>
            <a:pPr marL="0" lvl="0" indent="0" hangingPunct="0">
              <a:buNone/>
              <a:tabLst>
                <a:tab pos="22225" algn="l"/>
                <a:tab pos="23653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pthread_join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(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tA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, NULL);</a:t>
            </a:r>
          </a:p>
          <a:p>
            <a:pPr marL="0" lvl="0" indent="0" hangingPunct="0">
              <a:buNone/>
              <a:tabLst>
                <a:tab pos="22225" algn="l"/>
                <a:tab pos="23653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pthread_join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(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tB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, NULL);</a:t>
            </a:r>
          </a:p>
          <a:p>
            <a:pPr marL="0" lvl="0" indent="0" hangingPunct="0">
              <a:buNone/>
              <a:tabLst>
                <a:tab pos="22225" algn="l"/>
                <a:tab pos="23653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</a:t>
            </a:r>
            <a:r>
              <a:rPr lang="en-GB" b="1" dirty="0" err="1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sem_destroy</a:t>
            </a: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(&amp;</a:t>
            </a:r>
            <a:r>
              <a:rPr lang="en-GB" b="1" dirty="0" err="1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sem_mutex</a:t>
            </a: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);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709381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Producer-Consumer Problem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hangingPunc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000" kern="0" dirty="0"/>
              <a:t>Counting semaphore is useful for resolving the classical </a:t>
            </a:r>
            <a:r>
              <a:rPr lang="en-US" sz="2000" b="1" kern="0" dirty="0"/>
              <a:t>Producer-Consumer</a:t>
            </a:r>
            <a:r>
              <a:rPr lang="en-US" sz="2000" kern="0" dirty="0"/>
              <a:t> synchronization requirement</a:t>
            </a:r>
          </a:p>
          <a:p>
            <a:pPr marL="342900" indent="-34290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000" kern="0" dirty="0"/>
              <a:t>also known as the </a:t>
            </a:r>
            <a:r>
              <a:rPr lang="en-US" sz="2000" b="1" kern="0" dirty="0"/>
              <a:t>bounded buffer problem</a:t>
            </a:r>
            <a:endParaRPr lang="en-US" sz="2000" kern="0" dirty="0"/>
          </a:p>
          <a:p>
            <a:pPr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endParaRPr lang="en-US" sz="2000" kern="0" dirty="0"/>
          </a:p>
          <a:p>
            <a:pPr marL="0" indent="0" hangingPunc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000" kern="0" dirty="0"/>
              <a:t>This is an example of a multitasking synchronization problem on</a:t>
            </a:r>
          </a:p>
          <a:p>
            <a:pPr marL="342900" indent="-34290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000" kern="0" dirty="0"/>
              <a:t>how to pass data from one process to another process </a:t>
            </a:r>
          </a:p>
          <a:p>
            <a:pPr marL="0" indent="0" hangingPunc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endParaRPr lang="en-US" sz="2000" kern="0" dirty="0"/>
          </a:p>
          <a:p>
            <a:pPr marL="0" indent="0" hangingPunc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000" kern="0" dirty="0"/>
              <a:t>Two processes, the producer and the consumer</a:t>
            </a:r>
          </a:p>
          <a:p>
            <a:pPr marL="342900" indent="-34290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000" kern="0" dirty="0"/>
              <a:t>share a common, fixed-size (circular) buffer</a:t>
            </a:r>
          </a:p>
          <a:p>
            <a:pPr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endParaRPr lang="en-US" sz="2000" kern="0" dirty="0"/>
          </a:p>
          <a:p>
            <a:pPr marL="0" indent="0" hangingPunc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000" kern="0" dirty="0"/>
              <a:t>Producer generates data and put it into the buffer, and resume generation of its next data </a:t>
            </a:r>
          </a:p>
          <a:p>
            <a:pPr marL="342900" indent="-34290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000" kern="0" dirty="0"/>
              <a:t>at the same time, the consumer removes the data from the buffer, one piece at a time. 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278122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Producer-Consumer Problem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hangingPunc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400" kern="0" dirty="0"/>
              <a:t>The problem is to make sure that </a:t>
            </a:r>
          </a:p>
          <a:p>
            <a:pPr marL="342900" indent="-34290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400" kern="0" dirty="0"/>
              <a:t>the producer won't try to add data into the buffer if it is already full</a:t>
            </a:r>
          </a:p>
          <a:p>
            <a:pPr marL="0" indent="0" hangingPunc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400" kern="0" dirty="0"/>
              <a:t>and</a:t>
            </a:r>
          </a:p>
          <a:p>
            <a:pPr marL="342900" indent="-34290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400" kern="0" dirty="0"/>
              <a:t>the consumer won't try to remove data when buffer is empty</a:t>
            </a:r>
          </a:p>
          <a:p>
            <a:pPr marL="0" indent="0" hangingPunc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endParaRPr lang="en-US" sz="2400" kern="0" dirty="0"/>
          </a:p>
          <a:p>
            <a:pPr marL="0" indent="0" hangingPunc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400" kern="0" dirty="0"/>
              <a:t>Hence </a:t>
            </a:r>
            <a:r>
              <a:rPr lang="en-US" sz="2400" b="1" kern="0" dirty="0"/>
              <a:t>synchronization</a:t>
            </a:r>
            <a:r>
              <a:rPr lang="en-US" sz="2400" kern="0" dirty="0"/>
              <a:t> is needed.</a:t>
            </a:r>
          </a:p>
          <a:p>
            <a:pPr marL="0" indent="0" hangingPunct="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400" kern="0" dirty="0"/>
              <a:t>Producer/consumer will also need to wait until buffer/data is available</a:t>
            </a:r>
          </a:p>
          <a:p>
            <a:pPr marL="342900" indent="-34290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  <a:latin typeface="Helvetica" pitchFamily="32"/>
              </a:defRPr>
            </a:pPr>
            <a:r>
              <a:rPr lang="en-US" sz="2400" kern="0" dirty="0"/>
              <a:t>hence also needs </a:t>
            </a:r>
            <a:r>
              <a:rPr lang="en-US" sz="2400" b="1" kern="0" dirty="0"/>
              <a:t>event notification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392319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Snippet - Producer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void Put(char item)  // e.g. execute by an ISR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{    :</a:t>
            </a:r>
          </a:p>
          <a:p>
            <a:pPr mar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	   /* write item to shared buffer; If there 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    is no empty buffer, wait */</a:t>
            </a:r>
          </a:p>
          <a:p>
            <a:pPr mar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 </a:t>
            </a:r>
            <a:r>
              <a:rPr lang="en-GB" b="1" dirty="0" err="1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sem_wait</a:t>
            </a: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(&amp;</a:t>
            </a:r>
            <a:r>
              <a:rPr lang="en-GB" b="1" dirty="0" err="1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shared.</a:t>
            </a:r>
            <a:r>
              <a:rPr lang="en-GB" b="1" dirty="0" err="1">
                <a:solidFill>
                  <a:srgbClr val="C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buffer</a:t>
            </a: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);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 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	  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shared.buf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[shared.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in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] = item;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b="1" dirty="0">
              <a:solidFill>
                <a:srgbClr val="000000"/>
              </a:solidFill>
              <a:latin typeface="Courier New" panose="02070309020205020404" pitchFamily="49" charset="0"/>
              <a:ea typeface="HG Mincho Light J" pitchFamily="2"/>
              <a:cs typeface="Courier New" panose="02070309020205020404" pitchFamily="49" charset="0"/>
            </a:endParaRP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 /* increment the number of data 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		 now available in buffer */ 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 shared.in = (shared.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in+1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)%BUFF_SIZE;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	   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800" b="1" dirty="0">
              <a:solidFill>
                <a:srgbClr val="000000"/>
              </a:solidFill>
              <a:latin typeface="Courier New" panose="02070309020205020404" pitchFamily="49" charset="0"/>
              <a:ea typeface="HG Mincho Light J" pitchFamily="2"/>
              <a:cs typeface="Courier New" panose="02070309020205020404" pitchFamily="49" charset="0"/>
            </a:endParaRP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 /* generate signal */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  </a:t>
            </a:r>
            <a:r>
              <a:rPr lang="en-GB" b="1" dirty="0" err="1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sem_post</a:t>
            </a: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(&amp;</a:t>
            </a:r>
            <a:r>
              <a:rPr lang="en-GB" b="1" dirty="0" err="1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shared.</a:t>
            </a:r>
            <a:r>
              <a:rPr lang="en-GB" b="1" dirty="0" err="1">
                <a:solidFill>
                  <a:srgbClr val="C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data</a:t>
            </a: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);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6623637" y="2685570"/>
            <a:ext cx="52174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sem_wait</a:t>
            </a:r>
            <a:r>
              <a:rPr lang="en-US" dirty="0"/>
              <a:t>() decrements (locks) the semaphore pointed to by sem. If the semaphore currently has the value zero, then the call blocks until either it becomes possible to perform the decrement.</a:t>
            </a:r>
            <a:endParaRPr lang="en-SG" dirty="0"/>
          </a:p>
        </p:txBody>
      </p:sp>
      <p:sp>
        <p:nvSpPr>
          <p:cNvPr id="6" name="TextBox 5"/>
          <p:cNvSpPr txBox="1"/>
          <p:nvPr/>
        </p:nvSpPr>
        <p:spPr>
          <a:xfrm>
            <a:off x="6523744" y="4840941"/>
            <a:ext cx="54671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sem_post</a:t>
            </a:r>
            <a:r>
              <a:rPr lang="en-US" dirty="0"/>
              <a:t>() increments (unlocks) the semaphore pointed to by sem. If the semaphore's value consequently becomes greater than zero, then another process or thread blocked.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387603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Snippet - Consumer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void Get()  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{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int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item;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/* Prepare to get data from buffer; 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	     if there is no data – wait   */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   </a:t>
            </a:r>
            <a:r>
              <a:rPr lang="en-GB" b="1" dirty="0" err="1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sem_wait</a:t>
            </a: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(&amp;</a:t>
            </a:r>
            <a:r>
              <a:rPr lang="en-GB" b="1" dirty="0" err="1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shared.</a:t>
            </a:r>
            <a:r>
              <a:rPr lang="en-GB" b="1" dirty="0" err="1">
                <a:solidFill>
                  <a:srgbClr val="C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data</a:t>
            </a: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);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  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// Have data – get it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	     item =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shared.buf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[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shared.</a:t>
            </a:r>
            <a:r>
              <a:rPr lang="en-GB" b="1" dirty="0" err="1">
                <a:solidFill>
                  <a:srgbClr val="FF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out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];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b="1" dirty="0">
              <a:solidFill>
                <a:srgbClr val="000000"/>
              </a:solidFill>
              <a:latin typeface="Courier New" panose="02070309020205020404" pitchFamily="49" charset="0"/>
              <a:ea typeface="HG Mincho Light J" pitchFamily="2"/>
              <a:cs typeface="Courier New" panose="02070309020205020404" pitchFamily="49" charset="0"/>
            </a:endParaRP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// Increment the buffer now available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  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shared.out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= (shared.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out+1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)%BUFF_SIZE;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b="1" dirty="0">
              <a:solidFill>
                <a:srgbClr val="000000"/>
              </a:solidFill>
              <a:latin typeface="Courier New" panose="02070309020205020404" pitchFamily="49" charset="0"/>
              <a:ea typeface="HG Mincho Light J" pitchFamily="2"/>
              <a:cs typeface="Courier New" panose="02070309020205020404" pitchFamily="49" charset="0"/>
            </a:endParaRP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// signalling to waiting thread (if any)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   </a:t>
            </a:r>
            <a:r>
              <a:rPr lang="en-GB" b="1" dirty="0" err="1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sem_post</a:t>
            </a: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(&amp;</a:t>
            </a:r>
            <a:r>
              <a:rPr lang="en-GB" b="1" dirty="0" err="1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shared.</a:t>
            </a:r>
            <a:r>
              <a:rPr lang="en-GB" b="1" dirty="0" err="1">
                <a:solidFill>
                  <a:srgbClr val="C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buffer</a:t>
            </a: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);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946092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Snippet - Main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600"/>
              </a:spcBef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main()</a:t>
            </a:r>
          </a:p>
          <a:p>
            <a:pPr marL="0" lvl="0" indent="0">
              <a:spcBef>
                <a:spcPts val="600"/>
              </a:spcBef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{ 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pthread_t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tP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,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tC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;</a:t>
            </a:r>
          </a:p>
          <a:p>
            <a:pPr marL="0" lvl="0" indent="0">
              <a:spcBef>
                <a:spcPts val="600"/>
              </a:spcBef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 </a:t>
            </a:r>
            <a:r>
              <a:rPr lang="en-GB" b="1" dirty="0" err="1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sem_init</a:t>
            </a: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(&amp;</a:t>
            </a:r>
            <a:r>
              <a:rPr lang="en-GB" b="1" dirty="0" err="1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shared.data</a:t>
            </a: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, 0, 0);</a:t>
            </a:r>
          </a:p>
          <a:p>
            <a:pPr marL="0" lvl="0" indent="0">
              <a:spcBef>
                <a:spcPts val="600"/>
              </a:spcBef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 </a:t>
            </a:r>
            <a:r>
              <a:rPr lang="en-GB" b="1" dirty="0" err="1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sem_init</a:t>
            </a: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(&amp;</a:t>
            </a:r>
            <a:r>
              <a:rPr lang="en-GB" b="1" dirty="0" err="1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shared.buffer</a:t>
            </a: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, 0, BUFF_SIZE);</a:t>
            </a:r>
          </a:p>
          <a:p>
            <a:pPr marL="0" lvl="0" indent="0">
              <a:spcBef>
                <a:spcPts val="600"/>
              </a:spcBef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900" b="1" dirty="0">
              <a:solidFill>
                <a:srgbClr val="0000FF"/>
              </a:solidFill>
              <a:latin typeface="Courier New" panose="02070309020205020404" pitchFamily="49" charset="0"/>
              <a:ea typeface="HG Mincho Light J" pitchFamily="2"/>
              <a:cs typeface="Courier New" panose="02070309020205020404" pitchFamily="49" charset="0"/>
            </a:endParaRPr>
          </a:p>
          <a:p>
            <a:pPr marL="0" lvl="0" indent="0">
              <a:spcBef>
                <a:spcPts val="600"/>
              </a:spcBef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	  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pthread_create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( &amp;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tP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, NULL, &amp;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tProducer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, NULL)); </a:t>
            </a:r>
          </a:p>
          <a:p>
            <a:pPr marL="0" lvl="0" indent="0">
              <a:spcBef>
                <a:spcPts val="600"/>
              </a:spcBef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pthread_create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( &amp;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tC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, NULL, &amp;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tConsumer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, NULL)); </a:t>
            </a:r>
          </a:p>
          <a:p>
            <a:pPr marL="0" lvl="0" indent="0">
              <a:spcBef>
                <a:spcPts val="600"/>
              </a:spcBef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900" b="1" dirty="0">
              <a:solidFill>
                <a:srgbClr val="000000"/>
              </a:solidFill>
              <a:latin typeface="Courier New" panose="02070309020205020404" pitchFamily="49" charset="0"/>
              <a:ea typeface="HG Mincho Light J" pitchFamily="2"/>
              <a:cs typeface="Courier New" panose="02070309020205020404" pitchFamily="49" charset="0"/>
            </a:endParaRPr>
          </a:p>
          <a:p>
            <a:pPr marL="0" lvl="0" indent="0">
              <a:spcBef>
                <a:spcPts val="600"/>
              </a:spcBef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pthread_join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(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tP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, NULL);</a:t>
            </a:r>
          </a:p>
          <a:p>
            <a:pPr marL="0" lvl="0" indent="0">
              <a:spcBef>
                <a:spcPts val="600"/>
              </a:spcBef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 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pthread_join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(</a:t>
            </a: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tC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, NULL);</a:t>
            </a:r>
          </a:p>
          <a:p>
            <a:pPr marL="0" lvl="0" indent="0">
              <a:spcBef>
                <a:spcPts val="600"/>
              </a:spcBef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900" b="1" dirty="0">
              <a:solidFill>
                <a:srgbClr val="000000"/>
              </a:solidFill>
              <a:latin typeface="Courier New" panose="02070309020205020404" pitchFamily="49" charset="0"/>
              <a:ea typeface="HG Mincho Light J" pitchFamily="2"/>
              <a:cs typeface="Courier New" panose="02070309020205020404" pitchFamily="49" charset="0"/>
            </a:endParaRPr>
          </a:p>
          <a:p>
            <a:pPr marL="0" lvl="0" indent="0">
              <a:spcBef>
                <a:spcPts val="600"/>
              </a:spcBef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 </a:t>
            </a:r>
            <a:r>
              <a:rPr lang="en-GB" b="1" dirty="0" err="1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sem_destroy</a:t>
            </a: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(&amp;</a:t>
            </a:r>
            <a:r>
              <a:rPr lang="en-GB" b="1" dirty="0" err="1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shared.data</a:t>
            </a: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);</a:t>
            </a:r>
          </a:p>
          <a:p>
            <a:pPr marL="0" lvl="0" indent="0">
              <a:spcBef>
                <a:spcPts val="600"/>
              </a:spcBef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   </a:t>
            </a:r>
            <a:r>
              <a:rPr lang="en-GB" b="1" dirty="0" err="1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sem_destroy</a:t>
            </a: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(&amp;</a:t>
            </a:r>
            <a:r>
              <a:rPr lang="en-GB" b="1" dirty="0" err="1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shared.buffer</a:t>
            </a:r>
            <a:r>
              <a:rPr lang="en-GB" b="1" dirty="0">
                <a:solidFill>
                  <a:srgbClr val="0000FF"/>
                </a:solidFill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);  </a:t>
            </a:r>
          </a:p>
          <a:p>
            <a:pPr marL="0" lvl="0" indent="0">
              <a:spcBef>
                <a:spcPts val="600"/>
              </a:spcBef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latin typeface="Courier New" panose="02070309020205020404" pitchFamily="49" charset="0"/>
                <a:ea typeface="HG Mincho Light J" pitchFamily="2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048196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Producers/Consumers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With </a:t>
            </a:r>
            <a:r>
              <a:rPr lang="en-US" dirty="0">
                <a:solidFill>
                  <a:srgbClr val="FF0000"/>
                </a:solidFill>
              </a:rPr>
              <a:t>multiple producers </a:t>
            </a:r>
            <a:r>
              <a:rPr lang="en-US" dirty="0"/>
              <a:t>sharing the same buffer for their items, or </a:t>
            </a:r>
            <a:r>
              <a:rPr lang="en-US" dirty="0">
                <a:solidFill>
                  <a:srgbClr val="FF0000"/>
                </a:solidFill>
              </a:rPr>
              <a:t>multiple consumers</a:t>
            </a:r>
            <a:r>
              <a:rPr lang="en-US" dirty="0"/>
              <a:t> sharing the same memory space</a:t>
            </a:r>
          </a:p>
          <a:p>
            <a:r>
              <a:rPr lang="en-US" dirty="0"/>
              <a:t>using </a:t>
            </a:r>
            <a:r>
              <a:rPr lang="en-US" dirty="0">
                <a:solidFill>
                  <a:srgbClr val="FF0000"/>
                </a:solidFill>
              </a:rPr>
              <a:t>counting semaphores </a:t>
            </a:r>
            <a:r>
              <a:rPr lang="en-US" dirty="0"/>
              <a:t>can </a:t>
            </a:r>
            <a:r>
              <a:rPr lang="en-US" dirty="0">
                <a:solidFill>
                  <a:srgbClr val="FF0000"/>
                </a:solidFill>
              </a:rPr>
              <a:t>cause a serious race condition </a:t>
            </a:r>
            <a:r>
              <a:rPr lang="en-US" dirty="0"/>
              <a:t>that could result in two or more processes reading or writing into the same slot at the same time.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Example: Two producers decrement the empty semaphore</a:t>
            </a:r>
          </a:p>
          <a:p>
            <a:r>
              <a:rPr lang="en-US" dirty="0"/>
              <a:t>one of the producers determines the next empty slot in the buffer</a:t>
            </a:r>
          </a:p>
          <a:p>
            <a:r>
              <a:rPr lang="en-US" dirty="0"/>
              <a:t>second producer determines the next empty slot and gets the same result as the first producer</a:t>
            </a:r>
          </a:p>
          <a:p>
            <a:r>
              <a:rPr lang="en-US" dirty="0"/>
              <a:t>and both producers write into the same slot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Solution: need a way to make sure that  </a:t>
            </a:r>
            <a:r>
              <a:rPr lang="en-US" dirty="0">
                <a:solidFill>
                  <a:srgbClr val="FF0000"/>
                </a:solidFill>
              </a:rPr>
              <a:t>only one thread is executing the writing at a time 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012493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Snippet – </a:t>
            </a:r>
            <a:r>
              <a:rPr lang="en-US" dirty="0" err="1"/>
              <a:t>Mutex</a:t>
            </a:r>
            <a:r>
              <a:rPr lang="en-US" dirty="0"/>
              <a:t> with Semaphore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void Put(char item) 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{ </a:t>
            </a:r>
            <a:r>
              <a:rPr lang="en-GB" b="1" dirty="0" err="1">
                <a:solidFill>
                  <a:srgbClr val="000000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int</a:t>
            </a:r>
            <a:r>
              <a:rPr lang="en-GB" b="1" dirty="0">
                <a:solidFill>
                  <a:srgbClr val="000000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 item;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900" b="1" dirty="0">
              <a:solidFill>
                <a:srgbClr val="000000"/>
              </a:solidFill>
              <a:latin typeface="Courier" pitchFamily="49" charset="0"/>
              <a:ea typeface="HG Mincho Light J" pitchFamily="2"/>
              <a:cs typeface="Arial" pitchFamily="34" charset="0"/>
            </a:endParaRP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FF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  </a:t>
            </a:r>
            <a:r>
              <a:rPr lang="en-GB" b="1" dirty="0" err="1">
                <a:solidFill>
                  <a:srgbClr val="0000FF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sem_wait</a:t>
            </a:r>
            <a:r>
              <a:rPr lang="en-GB" b="1" dirty="0">
                <a:solidFill>
                  <a:srgbClr val="0000FF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(&amp;</a:t>
            </a:r>
            <a:r>
              <a:rPr lang="en-GB" b="1" dirty="0" err="1">
                <a:solidFill>
                  <a:srgbClr val="0000FF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shared.buffer</a:t>
            </a:r>
            <a:r>
              <a:rPr lang="en-GB" b="1" dirty="0">
                <a:solidFill>
                  <a:srgbClr val="0000FF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);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        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	  /* Have empty buffer – check whether buffer   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     is ready, if not wait */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  </a:t>
            </a:r>
            <a:r>
              <a:rPr lang="en-GB" b="1" dirty="0" err="1">
                <a:solidFill>
                  <a:srgbClr val="FF0000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sem_wait</a:t>
            </a:r>
            <a:r>
              <a:rPr lang="en-GB" b="1" dirty="0">
                <a:solidFill>
                  <a:srgbClr val="FF0000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(&amp;</a:t>
            </a:r>
            <a:r>
              <a:rPr lang="en-GB" b="1" dirty="0" err="1">
                <a:solidFill>
                  <a:srgbClr val="FF0000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shared.mutex</a:t>
            </a:r>
            <a:r>
              <a:rPr lang="en-GB" b="1" dirty="0">
                <a:solidFill>
                  <a:srgbClr val="FF0000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);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b="1" dirty="0">
              <a:solidFill>
                <a:srgbClr val="FF0000"/>
              </a:solidFill>
              <a:latin typeface="Courier" pitchFamily="49" charset="0"/>
              <a:ea typeface="HG Mincho Light J" pitchFamily="2"/>
              <a:cs typeface="Arial" pitchFamily="34" charset="0"/>
            </a:endParaRP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	  </a:t>
            </a:r>
            <a:r>
              <a:rPr lang="en-GB" b="1" dirty="0" err="1">
                <a:solidFill>
                  <a:srgbClr val="000000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shared.buf</a:t>
            </a:r>
            <a:r>
              <a:rPr lang="en-GB" b="1" dirty="0">
                <a:solidFill>
                  <a:srgbClr val="000000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[shared.in] = item;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  shared.in = (shared.in+1)%BUFF_SIZE;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b="1" dirty="0">
              <a:solidFill>
                <a:srgbClr val="000000"/>
              </a:solidFill>
              <a:latin typeface="Courier" pitchFamily="49" charset="0"/>
              <a:ea typeface="HG Mincho Light J" pitchFamily="2"/>
              <a:cs typeface="Arial" pitchFamily="34" charset="0"/>
            </a:endParaRPr>
          </a:p>
          <a:p>
            <a:pPr mar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	  </a:t>
            </a:r>
            <a:r>
              <a:rPr lang="en-GB" b="1" dirty="0" err="1">
                <a:solidFill>
                  <a:srgbClr val="FF0000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sem_post</a:t>
            </a:r>
            <a:r>
              <a:rPr lang="en-GB" b="1" dirty="0">
                <a:solidFill>
                  <a:srgbClr val="FF0000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(&amp;</a:t>
            </a:r>
            <a:r>
              <a:rPr lang="en-GB" b="1" dirty="0" err="1">
                <a:solidFill>
                  <a:srgbClr val="FF0000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shared.mutex</a:t>
            </a:r>
            <a:r>
              <a:rPr lang="en-GB" b="1" dirty="0">
                <a:solidFill>
                  <a:srgbClr val="FF0000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);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b="1" dirty="0">
              <a:solidFill>
                <a:srgbClr val="000000"/>
              </a:solidFill>
              <a:latin typeface="Courier" pitchFamily="49" charset="0"/>
              <a:ea typeface="HG Mincho Light J" pitchFamily="2"/>
              <a:cs typeface="Arial" pitchFamily="34" charset="0"/>
            </a:endParaRP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FF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	  </a:t>
            </a:r>
            <a:r>
              <a:rPr lang="en-GB" b="1" dirty="0" err="1">
                <a:solidFill>
                  <a:srgbClr val="0000FF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sem_post</a:t>
            </a:r>
            <a:r>
              <a:rPr lang="en-GB" b="1" dirty="0">
                <a:solidFill>
                  <a:srgbClr val="0000FF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(&amp;</a:t>
            </a:r>
            <a:r>
              <a:rPr lang="en-GB" b="1" dirty="0" err="1">
                <a:solidFill>
                  <a:srgbClr val="0000FF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shared.data</a:t>
            </a:r>
            <a:r>
              <a:rPr lang="en-GB" b="1" dirty="0">
                <a:solidFill>
                  <a:srgbClr val="0000FF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);</a:t>
            </a:r>
          </a:p>
          <a:p>
            <a:pPr marL="0" lvl="0" indent="0" hangingPunct="0">
              <a:buNone/>
              <a:tabLst>
                <a:tab pos="22677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0000"/>
                </a:solidFill>
                <a:latin typeface="Courier" pitchFamily="49" charset="0"/>
                <a:ea typeface="HG Mincho Light J" pitchFamily="2"/>
                <a:cs typeface="Arial" pitchFamily="34" charset="0"/>
              </a:rPr>
              <a:t>}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51126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Both </a:t>
            </a:r>
            <a:r>
              <a:rPr lang="en-US" dirty="0" err="1"/>
              <a:t>mutex</a:t>
            </a:r>
            <a:r>
              <a:rPr lang="en-US" dirty="0"/>
              <a:t> and semaphores can be used to provide mutual exclusion for critical section</a:t>
            </a:r>
          </a:p>
          <a:p>
            <a:r>
              <a:rPr lang="en-US" dirty="0"/>
              <a:t>but semaphore is more versatile as it can also be used for event notification and thread synchronization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Mutex</a:t>
            </a:r>
            <a:r>
              <a:rPr lang="en-US" dirty="0"/>
              <a:t> is robust in providing mutual exclusion and hence is good for critical application</a:t>
            </a:r>
          </a:p>
          <a:p>
            <a:r>
              <a:rPr lang="en-US" dirty="0"/>
              <a:t>but semaphore is faster and uses fewer system resources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There is no concept of ownership for semaphore</a:t>
            </a:r>
          </a:p>
          <a:p>
            <a:r>
              <a:rPr lang="en-US" dirty="0"/>
              <a:t>semaphore is not considered to be owned by a thread</a:t>
            </a:r>
          </a:p>
          <a:p>
            <a:pPr marL="0" indent="0">
              <a:buNone/>
            </a:pPr>
            <a:r>
              <a:rPr lang="en-US" dirty="0"/>
              <a:t>    – one thread can execute </a:t>
            </a:r>
            <a:r>
              <a:rPr lang="en-US" b="1" dirty="0" err="1"/>
              <a:t>sem_wait</a:t>
            </a:r>
            <a:r>
              <a:rPr lang="en-US" b="1" dirty="0"/>
              <a:t>() </a:t>
            </a:r>
            <a:r>
              <a:rPr lang="en-US" dirty="0"/>
              <a:t>on a semaphore </a:t>
            </a:r>
          </a:p>
          <a:p>
            <a:pPr marL="0" indent="0">
              <a:buNone/>
            </a:pPr>
            <a:r>
              <a:rPr lang="en-US" dirty="0"/>
              <a:t>       and another thread can execute </a:t>
            </a:r>
            <a:r>
              <a:rPr lang="en-US" b="1" dirty="0" err="1"/>
              <a:t>sem_post</a:t>
            </a:r>
            <a:r>
              <a:rPr lang="en-US" b="1" dirty="0"/>
              <a:t>()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Compared it with </a:t>
            </a:r>
            <a:r>
              <a:rPr lang="en-US" dirty="0" err="1"/>
              <a:t>mutex</a:t>
            </a:r>
            <a:r>
              <a:rPr lang="en-US" dirty="0"/>
              <a:t>, which is locked and unlocked by the same thread, and hence is owned by the thread.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937210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by Multithreading 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325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SG" dirty="0"/>
              <a:t>#include &lt;</a:t>
            </a:r>
            <a:r>
              <a:rPr lang="en-SG" dirty="0" err="1"/>
              <a:t>stdio.h</a:t>
            </a:r>
            <a:r>
              <a:rPr lang="en-SG" dirty="0"/>
              <a:t>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#include &lt;</a:t>
            </a:r>
            <a:r>
              <a:rPr lang="en-SG" dirty="0" err="1"/>
              <a:t>stdlib.h</a:t>
            </a:r>
            <a:r>
              <a:rPr lang="en-SG" dirty="0"/>
              <a:t>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#include &lt;</a:t>
            </a:r>
            <a:r>
              <a:rPr lang="en-SG" dirty="0" err="1"/>
              <a:t>pthread.h</a:t>
            </a:r>
            <a:r>
              <a:rPr lang="en-SG" dirty="0"/>
              <a:t>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#include &lt;</a:t>
            </a:r>
            <a:r>
              <a:rPr lang="en-SG" dirty="0" err="1"/>
              <a:t>unistd.h</a:t>
            </a:r>
            <a:r>
              <a:rPr lang="en-SG" dirty="0"/>
              <a:t>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// Structure to pass parameters to thread function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 err="1"/>
              <a:t>typedef</a:t>
            </a:r>
            <a:r>
              <a:rPr lang="en-SG" dirty="0"/>
              <a:t> </a:t>
            </a:r>
            <a:r>
              <a:rPr lang="en-SG" dirty="0" err="1"/>
              <a:t>struct</a:t>
            </a:r>
            <a:r>
              <a:rPr lang="en-SG" dirty="0"/>
              <a:t>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</a:t>
            </a:r>
            <a:r>
              <a:rPr lang="en-SG" dirty="0" err="1"/>
              <a:t>int</a:t>
            </a:r>
            <a:r>
              <a:rPr lang="en-SG" dirty="0"/>
              <a:t>* </a:t>
            </a:r>
            <a:r>
              <a:rPr lang="en-SG" dirty="0" err="1"/>
              <a:t>arr</a:t>
            </a:r>
            <a:r>
              <a:rPr lang="en-SG" dirty="0"/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</a:t>
            </a:r>
            <a:r>
              <a:rPr lang="en-SG" dirty="0" err="1"/>
              <a:t>int</a:t>
            </a:r>
            <a:r>
              <a:rPr lang="en-SG" dirty="0"/>
              <a:t> left;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</a:t>
            </a:r>
            <a:r>
              <a:rPr lang="en-SG" dirty="0" err="1"/>
              <a:t>int</a:t>
            </a:r>
            <a:r>
              <a:rPr lang="en-SG" dirty="0"/>
              <a:t> right;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} </a:t>
            </a:r>
            <a:r>
              <a:rPr lang="en-SG" dirty="0" err="1"/>
              <a:t>ThreadArgs</a:t>
            </a:r>
            <a:r>
              <a:rPr lang="en-SG" dirty="0"/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// Function to merge two halves of the array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void merge(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arr</a:t>
            </a:r>
            <a:r>
              <a:rPr lang="en-US" dirty="0"/>
              <a:t>[], </a:t>
            </a:r>
            <a:r>
              <a:rPr lang="en-US" dirty="0" err="1"/>
              <a:t>int</a:t>
            </a:r>
            <a:r>
              <a:rPr lang="en-US" dirty="0"/>
              <a:t> left, </a:t>
            </a:r>
            <a:r>
              <a:rPr lang="en-US" dirty="0" err="1"/>
              <a:t>int</a:t>
            </a:r>
            <a:r>
              <a:rPr lang="en-US" dirty="0"/>
              <a:t> mid, </a:t>
            </a:r>
            <a:r>
              <a:rPr lang="en-US" dirty="0" err="1"/>
              <a:t>int</a:t>
            </a:r>
            <a:r>
              <a:rPr lang="en-US" dirty="0"/>
              <a:t> right)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n1 = mid - left + 1;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n2 = right - mid;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* L = (</a:t>
            </a:r>
            <a:r>
              <a:rPr lang="en-US" dirty="0" err="1"/>
              <a:t>int</a:t>
            </a:r>
            <a:r>
              <a:rPr lang="en-US" dirty="0"/>
              <a:t>*) </a:t>
            </a:r>
            <a:r>
              <a:rPr lang="en-US" dirty="0" err="1"/>
              <a:t>malloc</a:t>
            </a:r>
            <a:r>
              <a:rPr lang="en-US" dirty="0"/>
              <a:t>(n1 *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));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* R = (</a:t>
            </a:r>
            <a:r>
              <a:rPr lang="en-US" dirty="0" err="1"/>
              <a:t>int</a:t>
            </a:r>
            <a:r>
              <a:rPr lang="en-US" dirty="0"/>
              <a:t>*) </a:t>
            </a:r>
            <a:r>
              <a:rPr lang="en-US" dirty="0" err="1"/>
              <a:t>malloc</a:t>
            </a:r>
            <a:r>
              <a:rPr lang="en-US" dirty="0"/>
              <a:t>(n2 *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));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n1;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L[</a:t>
            </a:r>
            <a:r>
              <a:rPr lang="en-US" dirty="0" err="1"/>
              <a:t>i</a:t>
            </a:r>
            <a:r>
              <a:rPr lang="en-US" dirty="0"/>
              <a:t>] = </a:t>
            </a:r>
            <a:r>
              <a:rPr lang="en-US" dirty="0" err="1"/>
              <a:t>arr</a:t>
            </a:r>
            <a:r>
              <a:rPr lang="en-US" dirty="0"/>
              <a:t>[left + 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n2;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R[</a:t>
            </a:r>
            <a:r>
              <a:rPr lang="en-US" dirty="0" err="1"/>
              <a:t>i</a:t>
            </a:r>
            <a:r>
              <a:rPr lang="en-US" dirty="0"/>
              <a:t>] = </a:t>
            </a:r>
            <a:r>
              <a:rPr lang="en-US" dirty="0" err="1"/>
              <a:t>arr</a:t>
            </a:r>
            <a:r>
              <a:rPr lang="en-US" dirty="0"/>
              <a:t>[mid + 1 + 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 marL="0" indent="0">
              <a:spcBef>
                <a:spcPts val="600"/>
              </a:spcBef>
              <a:buNone/>
            </a:pPr>
            <a:endParaRPr lang="en-US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0, j = 0, k = left;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while (</a:t>
            </a:r>
            <a:r>
              <a:rPr lang="en-US" dirty="0" err="1"/>
              <a:t>i</a:t>
            </a:r>
            <a:r>
              <a:rPr lang="en-US" dirty="0"/>
              <a:t> &lt; n1 &amp;&amp; j &lt; n2)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if (L[</a:t>
            </a:r>
            <a:r>
              <a:rPr lang="en-US" dirty="0" err="1"/>
              <a:t>i</a:t>
            </a:r>
            <a:r>
              <a:rPr lang="en-US" dirty="0"/>
              <a:t>] &lt;= R[j])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    </a:t>
            </a:r>
            <a:r>
              <a:rPr lang="en-US" dirty="0" err="1"/>
              <a:t>arr</a:t>
            </a:r>
            <a:r>
              <a:rPr lang="en-US" dirty="0"/>
              <a:t>[k] = L[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    </a:t>
            </a:r>
            <a:r>
              <a:rPr lang="en-US" dirty="0" err="1"/>
              <a:t>i</a:t>
            </a:r>
            <a:r>
              <a:rPr lang="en-US" dirty="0"/>
              <a:t>++;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} else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    </a:t>
            </a:r>
            <a:r>
              <a:rPr lang="en-US" dirty="0" err="1"/>
              <a:t>arr</a:t>
            </a:r>
            <a:r>
              <a:rPr lang="en-US" dirty="0"/>
              <a:t>[k] = R[j];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    </a:t>
            </a:r>
            <a:r>
              <a:rPr lang="en-US" dirty="0" err="1"/>
              <a:t>j++</a:t>
            </a:r>
            <a:r>
              <a:rPr lang="en-US" dirty="0"/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k++;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while (</a:t>
            </a:r>
            <a:r>
              <a:rPr lang="en-US" dirty="0" err="1"/>
              <a:t>i</a:t>
            </a:r>
            <a:r>
              <a:rPr lang="en-US" dirty="0"/>
              <a:t> &lt; n1)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</a:t>
            </a:r>
            <a:r>
              <a:rPr lang="en-US" dirty="0" err="1"/>
              <a:t>arr</a:t>
            </a:r>
            <a:r>
              <a:rPr lang="en-US" dirty="0"/>
              <a:t>[k] = L[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</a:t>
            </a:r>
            <a:r>
              <a:rPr lang="en-US" dirty="0" err="1"/>
              <a:t>i</a:t>
            </a:r>
            <a:r>
              <a:rPr lang="en-US" dirty="0"/>
              <a:t>++;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k++;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while (j &lt; n2)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</a:t>
            </a:r>
            <a:r>
              <a:rPr lang="en-US" dirty="0" err="1"/>
              <a:t>arr</a:t>
            </a:r>
            <a:r>
              <a:rPr lang="en-US" dirty="0"/>
              <a:t>[k] = R[j];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</a:t>
            </a:r>
            <a:r>
              <a:rPr lang="en-US" dirty="0" err="1"/>
              <a:t>j++</a:t>
            </a:r>
            <a:r>
              <a:rPr lang="en-US" dirty="0"/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k++;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}</a:t>
            </a:r>
          </a:p>
          <a:p>
            <a:pPr marL="0" indent="0">
              <a:spcBef>
                <a:spcPts val="600"/>
              </a:spcBef>
              <a:buNone/>
            </a:pPr>
            <a:endParaRPr lang="en-US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free(L);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free(R);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dirty="0"/>
          </a:p>
          <a:p>
            <a:pPr marL="0" indent="0">
              <a:spcBef>
                <a:spcPts val="600"/>
              </a:spcBef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345031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36540"/>
          </a:xfrm>
        </p:spPr>
        <p:txBody>
          <a:bodyPr numCol="2">
            <a:normAutofit fontScale="250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dirty="0"/>
              <a:t>// Function to perform merge sort using threads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void* </a:t>
            </a:r>
            <a:r>
              <a:rPr lang="en-US" dirty="0" err="1"/>
              <a:t>mergeSort</a:t>
            </a:r>
            <a:r>
              <a:rPr lang="en-US" dirty="0"/>
              <a:t>(void*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ThreadArgs</a:t>
            </a:r>
            <a:r>
              <a:rPr lang="en-US" dirty="0"/>
              <a:t>* </a:t>
            </a:r>
            <a:r>
              <a:rPr lang="en-US" dirty="0" err="1"/>
              <a:t>threadArgs</a:t>
            </a:r>
            <a:r>
              <a:rPr lang="en-US" dirty="0"/>
              <a:t> = (</a:t>
            </a:r>
            <a:r>
              <a:rPr lang="en-US" dirty="0" err="1"/>
              <a:t>ThreadArgs</a:t>
            </a:r>
            <a:r>
              <a:rPr lang="en-US" dirty="0"/>
              <a:t>*) </a:t>
            </a:r>
            <a:r>
              <a:rPr lang="en-US" dirty="0" err="1"/>
              <a:t>args</a:t>
            </a:r>
            <a:r>
              <a:rPr lang="en-US" dirty="0"/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* </a:t>
            </a: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threadArgs</a:t>
            </a:r>
            <a:r>
              <a:rPr lang="en-US" dirty="0"/>
              <a:t>-&gt;</a:t>
            </a:r>
            <a:r>
              <a:rPr lang="en-US" dirty="0" err="1"/>
              <a:t>arr</a:t>
            </a:r>
            <a:r>
              <a:rPr lang="en-US" dirty="0"/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left = </a:t>
            </a:r>
            <a:r>
              <a:rPr lang="en-US" dirty="0" err="1"/>
              <a:t>threadArgs</a:t>
            </a:r>
            <a:r>
              <a:rPr lang="en-US" dirty="0"/>
              <a:t>-&gt;left;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right = </a:t>
            </a:r>
            <a:r>
              <a:rPr lang="en-US" dirty="0" err="1"/>
              <a:t>threadArgs</a:t>
            </a:r>
            <a:r>
              <a:rPr lang="en-US" dirty="0"/>
              <a:t>-&gt;right;</a:t>
            </a:r>
          </a:p>
          <a:p>
            <a:pPr marL="0" indent="0">
              <a:spcBef>
                <a:spcPts val="600"/>
              </a:spcBef>
              <a:buNone/>
            </a:pPr>
            <a:endParaRPr lang="en-US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if (left &lt; right)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mid = left + (right - left) / 2;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</a:t>
            </a:r>
            <a:r>
              <a:rPr lang="en-US" dirty="0" err="1"/>
              <a:t>pthread_t</a:t>
            </a:r>
            <a:r>
              <a:rPr lang="en-US" dirty="0"/>
              <a:t> thread1, thread2;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</a:t>
            </a:r>
            <a:r>
              <a:rPr lang="en-US" dirty="0" err="1"/>
              <a:t>ThreadArgs</a:t>
            </a:r>
            <a:r>
              <a:rPr lang="en-US" dirty="0"/>
              <a:t> </a:t>
            </a:r>
            <a:r>
              <a:rPr lang="en-US" dirty="0" err="1"/>
              <a:t>leftArgs</a:t>
            </a:r>
            <a:r>
              <a:rPr lang="en-US" dirty="0"/>
              <a:t> = { </a:t>
            </a:r>
            <a:r>
              <a:rPr lang="en-US" dirty="0" err="1"/>
              <a:t>arr</a:t>
            </a:r>
            <a:r>
              <a:rPr lang="en-US" dirty="0"/>
              <a:t>, left, mid };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</a:t>
            </a:r>
            <a:r>
              <a:rPr lang="en-US" dirty="0" err="1"/>
              <a:t>ThreadArgs</a:t>
            </a:r>
            <a:r>
              <a:rPr lang="en-US" dirty="0"/>
              <a:t> </a:t>
            </a:r>
            <a:r>
              <a:rPr lang="en-US" dirty="0" err="1"/>
              <a:t>rightArgs</a:t>
            </a:r>
            <a:r>
              <a:rPr lang="en-US" dirty="0"/>
              <a:t> = { </a:t>
            </a:r>
            <a:r>
              <a:rPr lang="en-US" dirty="0" err="1"/>
              <a:t>arr</a:t>
            </a:r>
            <a:r>
              <a:rPr lang="en-US" dirty="0"/>
              <a:t>, mid + 1, right };</a:t>
            </a:r>
          </a:p>
          <a:p>
            <a:pPr marL="0" indent="0">
              <a:spcBef>
                <a:spcPts val="600"/>
              </a:spcBef>
              <a:buNone/>
            </a:pPr>
            <a:endParaRPr lang="en-US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// Create threads for sorting the two halves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</a:t>
            </a:r>
            <a:r>
              <a:rPr lang="en-US" dirty="0" err="1"/>
              <a:t>pthread_create</a:t>
            </a:r>
            <a:r>
              <a:rPr lang="en-US" dirty="0"/>
              <a:t>(&amp;thread1, NULL, </a:t>
            </a:r>
            <a:r>
              <a:rPr lang="en-US" dirty="0" err="1"/>
              <a:t>mergeSort</a:t>
            </a:r>
            <a:r>
              <a:rPr lang="en-US" dirty="0"/>
              <a:t>, &amp;</a:t>
            </a:r>
            <a:r>
              <a:rPr lang="en-US" dirty="0" err="1"/>
              <a:t>leftArgs</a:t>
            </a:r>
            <a:r>
              <a:rPr lang="en-US" dirty="0"/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</a:t>
            </a:r>
            <a:r>
              <a:rPr lang="en-US" dirty="0" err="1"/>
              <a:t>pthread_create</a:t>
            </a:r>
            <a:r>
              <a:rPr lang="en-US" dirty="0"/>
              <a:t>(&amp;thread2, NULL, </a:t>
            </a:r>
            <a:r>
              <a:rPr lang="en-US" dirty="0" err="1"/>
              <a:t>mergeSort</a:t>
            </a:r>
            <a:r>
              <a:rPr lang="en-US" dirty="0"/>
              <a:t>, &amp;</a:t>
            </a:r>
            <a:r>
              <a:rPr lang="en-US" dirty="0" err="1"/>
              <a:t>rightArgs</a:t>
            </a:r>
            <a:r>
              <a:rPr lang="en-US" dirty="0"/>
              <a:t>);</a:t>
            </a:r>
          </a:p>
          <a:p>
            <a:pPr marL="0" indent="0">
              <a:spcBef>
                <a:spcPts val="600"/>
              </a:spcBef>
              <a:buNone/>
            </a:pPr>
            <a:endParaRPr lang="en-US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// Wait for both threads to complete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</a:t>
            </a:r>
            <a:r>
              <a:rPr lang="en-US" dirty="0" err="1"/>
              <a:t>pthread_join</a:t>
            </a:r>
            <a:r>
              <a:rPr lang="en-US" dirty="0"/>
              <a:t>(thread1, NULL);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</a:t>
            </a:r>
            <a:r>
              <a:rPr lang="en-US" dirty="0" err="1"/>
              <a:t>pthread_join</a:t>
            </a:r>
            <a:r>
              <a:rPr lang="en-US" dirty="0"/>
              <a:t>(thread2, NULL);</a:t>
            </a:r>
          </a:p>
          <a:p>
            <a:pPr marL="0" indent="0">
              <a:spcBef>
                <a:spcPts val="600"/>
              </a:spcBef>
              <a:buNone/>
            </a:pPr>
            <a:endParaRPr lang="en-US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// Merge the two sorted halves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merge(</a:t>
            </a:r>
            <a:r>
              <a:rPr lang="en-US" dirty="0" err="1"/>
              <a:t>arr</a:t>
            </a:r>
            <a:r>
              <a:rPr lang="en-US" dirty="0"/>
              <a:t>, left, mid, right);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return NULL;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 err="1"/>
              <a:t>int</a:t>
            </a:r>
            <a:r>
              <a:rPr lang="en-SG" dirty="0"/>
              <a:t> main()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//</a:t>
            </a:r>
            <a:r>
              <a:rPr lang="en-SG" dirty="0" err="1"/>
              <a:t>int</a:t>
            </a:r>
            <a:r>
              <a:rPr lang="en-SG" dirty="0"/>
              <a:t> </a:t>
            </a:r>
            <a:r>
              <a:rPr lang="en-SG" dirty="0" err="1"/>
              <a:t>arr</a:t>
            </a:r>
            <a:r>
              <a:rPr lang="en-SG" dirty="0"/>
              <a:t>[] = {38, 27, 43, 3, 9, 82, 10};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//</a:t>
            </a:r>
            <a:r>
              <a:rPr lang="en-SG" dirty="0" err="1"/>
              <a:t>int</a:t>
            </a:r>
            <a:r>
              <a:rPr lang="en-SG" dirty="0"/>
              <a:t> n = </a:t>
            </a:r>
            <a:r>
              <a:rPr lang="en-SG" dirty="0" err="1"/>
              <a:t>sizeof</a:t>
            </a:r>
            <a:r>
              <a:rPr lang="en-SG" dirty="0"/>
              <a:t>(</a:t>
            </a:r>
            <a:r>
              <a:rPr lang="en-SG" dirty="0" err="1"/>
              <a:t>arr</a:t>
            </a:r>
            <a:r>
              <a:rPr lang="en-SG" dirty="0"/>
              <a:t>) / </a:t>
            </a:r>
            <a:r>
              <a:rPr lang="en-SG" dirty="0" err="1"/>
              <a:t>sizeof</a:t>
            </a:r>
            <a:r>
              <a:rPr lang="en-SG" dirty="0"/>
              <a:t>(</a:t>
            </a:r>
            <a:r>
              <a:rPr lang="en-SG" dirty="0" err="1"/>
              <a:t>arr</a:t>
            </a:r>
            <a:r>
              <a:rPr lang="en-SG" dirty="0"/>
              <a:t>[0]);</a:t>
            </a:r>
          </a:p>
          <a:p>
            <a:pPr marL="0" indent="0">
              <a:spcBef>
                <a:spcPts val="600"/>
              </a:spcBef>
              <a:buNone/>
            </a:pPr>
            <a:endParaRPr lang="en-SG" dirty="0"/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</a:t>
            </a:r>
            <a:r>
              <a:rPr lang="en-SG" dirty="0" err="1"/>
              <a:t>int</a:t>
            </a:r>
            <a:r>
              <a:rPr lang="en-SG" dirty="0"/>
              <a:t> n;</a:t>
            </a:r>
          </a:p>
          <a:p>
            <a:pPr marL="0" indent="0">
              <a:spcBef>
                <a:spcPts val="600"/>
              </a:spcBef>
              <a:buNone/>
            </a:pPr>
            <a:endParaRPr lang="en-SG" dirty="0"/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// User input for the number of elements in the array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</a:t>
            </a:r>
            <a:r>
              <a:rPr lang="en-SG" dirty="0" err="1"/>
              <a:t>printf</a:t>
            </a:r>
            <a:r>
              <a:rPr lang="en-SG" dirty="0"/>
              <a:t>("Enter the number of elements in the array: ");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</a:t>
            </a:r>
            <a:r>
              <a:rPr lang="en-SG" dirty="0" err="1"/>
              <a:t>scanf</a:t>
            </a:r>
            <a:r>
              <a:rPr lang="en-SG" dirty="0"/>
              <a:t>("%d", &amp;n);</a:t>
            </a:r>
          </a:p>
          <a:p>
            <a:pPr marL="0" indent="0">
              <a:spcBef>
                <a:spcPts val="600"/>
              </a:spcBef>
              <a:buNone/>
            </a:pPr>
            <a:endParaRPr lang="en-SG" dirty="0"/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// Dynamically allocate memory for the array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</a:t>
            </a:r>
            <a:r>
              <a:rPr lang="en-SG" dirty="0" err="1"/>
              <a:t>int</a:t>
            </a:r>
            <a:r>
              <a:rPr lang="en-SG" dirty="0"/>
              <a:t>* </a:t>
            </a:r>
            <a:r>
              <a:rPr lang="en-SG" dirty="0" err="1"/>
              <a:t>arr</a:t>
            </a:r>
            <a:r>
              <a:rPr lang="en-SG" dirty="0"/>
              <a:t> = (</a:t>
            </a:r>
            <a:r>
              <a:rPr lang="en-SG" dirty="0" err="1"/>
              <a:t>int</a:t>
            </a:r>
            <a:r>
              <a:rPr lang="en-SG" dirty="0"/>
              <a:t>*) </a:t>
            </a:r>
            <a:r>
              <a:rPr lang="en-SG" dirty="0" err="1"/>
              <a:t>malloc</a:t>
            </a:r>
            <a:r>
              <a:rPr lang="en-SG" dirty="0"/>
              <a:t>(n * </a:t>
            </a:r>
            <a:r>
              <a:rPr lang="en-SG" dirty="0" err="1"/>
              <a:t>sizeof</a:t>
            </a:r>
            <a:r>
              <a:rPr lang="en-SG" dirty="0"/>
              <a:t>(</a:t>
            </a:r>
            <a:r>
              <a:rPr lang="en-SG" dirty="0" err="1"/>
              <a:t>int</a:t>
            </a:r>
            <a:r>
              <a:rPr lang="en-SG" dirty="0"/>
              <a:t>));</a:t>
            </a:r>
          </a:p>
          <a:p>
            <a:pPr marL="0" indent="0">
              <a:spcBef>
                <a:spcPts val="600"/>
              </a:spcBef>
              <a:buNone/>
            </a:pPr>
            <a:endParaRPr lang="en-SG" dirty="0"/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// User input for the array elements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</a:t>
            </a:r>
            <a:r>
              <a:rPr lang="en-SG" dirty="0" err="1"/>
              <a:t>printf</a:t>
            </a:r>
            <a:r>
              <a:rPr lang="en-SG" dirty="0"/>
              <a:t>("Enter %d elements: \n", n);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for (</a:t>
            </a:r>
            <a:r>
              <a:rPr lang="en-SG" dirty="0" err="1"/>
              <a:t>int</a:t>
            </a:r>
            <a:r>
              <a:rPr lang="en-SG" dirty="0"/>
              <a:t> </a:t>
            </a:r>
            <a:r>
              <a:rPr lang="en-SG" dirty="0" err="1"/>
              <a:t>i</a:t>
            </a:r>
            <a:r>
              <a:rPr lang="en-SG" dirty="0"/>
              <a:t> = 0; </a:t>
            </a:r>
            <a:r>
              <a:rPr lang="en-SG" dirty="0" err="1"/>
              <a:t>i</a:t>
            </a:r>
            <a:r>
              <a:rPr lang="en-SG" dirty="0"/>
              <a:t> &lt; n; </a:t>
            </a:r>
            <a:r>
              <a:rPr lang="en-SG" dirty="0" err="1"/>
              <a:t>i</a:t>
            </a:r>
            <a:r>
              <a:rPr lang="en-SG" dirty="0"/>
              <a:t>++)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    </a:t>
            </a:r>
            <a:r>
              <a:rPr lang="en-SG" dirty="0" err="1"/>
              <a:t>scanf</a:t>
            </a:r>
            <a:r>
              <a:rPr lang="en-SG" dirty="0"/>
              <a:t>("%d", &amp;</a:t>
            </a:r>
            <a:r>
              <a:rPr lang="en-SG" dirty="0" err="1"/>
              <a:t>arr</a:t>
            </a:r>
            <a:r>
              <a:rPr lang="en-SG" dirty="0"/>
              <a:t>[</a:t>
            </a:r>
            <a:r>
              <a:rPr lang="en-SG" dirty="0" err="1"/>
              <a:t>i</a:t>
            </a:r>
            <a:r>
              <a:rPr lang="en-SG" dirty="0"/>
              <a:t>]);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}</a:t>
            </a:r>
          </a:p>
          <a:p>
            <a:pPr marL="0" indent="0">
              <a:spcBef>
                <a:spcPts val="600"/>
              </a:spcBef>
              <a:buNone/>
            </a:pPr>
            <a:endParaRPr lang="en-SG" dirty="0"/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</a:t>
            </a:r>
            <a:r>
              <a:rPr lang="en-SG" dirty="0" err="1"/>
              <a:t>printf</a:t>
            </a:r>
            <a:r>
              <a:rPr lang="en-SG" dirty="0"/>
              <a:t>("Original array: \n");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for (</a:t>
            </a:r>
            <a:r>
              <a:rPr lang="en-SG" dirty="0" err="1"/>
              <a:t>int</a:t>
            </a:r>
            <a:r>
              <a:rPr lang="en-SG" dirty="0"/>
              <a:t> </a:t>
            </a:r>
            <a:r>
              <a:rPr lang="en-SG" dirty="0" err="1"/>
              <a:t>i</a:t>
            </a:r>
            <a:r>
              <a:rPr lang="en-SG" dirty="0"/>
              <a:t> = 0; </a:t>
            </a:r>
            <a:r>
              <a:rPr lang="en-SG" dirty="0" err="1"/>
              <a:t>i</a:t>
            </a:r>
            <a:r>
              <a:rPr lang="en-SG" dirty="0"/>
              <a:t> &lt; n; </a:t>
            </a:r>
            <a:r>
              <a:rPr lang="en-SG" dirty="0" err="1"/>
              <a:t>i</a:t>
            </a:r>
            <a:r>
              <a:rPr lang="en-SG" dirty="0"/>
              <a:t>++)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    </a:t>
            </a:r>
            <a:r>
              <a:rPr lang="en-SG" dirty="0" err="1"/>
              <a:t>printf</a:t>
            </a:r>
            <a:r>
              <a:rPr lang="en-SG" dirty="0"/>
              <a:t>("%d ", </a:t>
            </a:r>
            <a:r>
              <a:rPr lang="en-SG" dirty="0" err="1"/>
              <a:t>arr</a:t>
            </a:r>
            <a:r>
              <a:rPr lang="en-SG" dirty="0"/>
              <a:t>[</a:t>
            </a:r>
            <a:r>
              <a:rPr lang="en-SG" dirty="0" err="1"/>
              <a:t>i</a:t>
            </a:r>
            <a:r>
              <a:rPr lang="en-SG" dirty="0"/>
              <a:t>]);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</a:t>
            </a:r>
            <a:r>
              <a:rPr lang="en-SG" dirty="0" err="1"/>
              <a:t>printf</a:t>
            </a:r>
            <a:r>
              <a:rPr lang="en-SG" dirty="0"/>
              <a:t>("\n");</a:t>
            </a:r>
          </a:p>
          <a:p>
            <a:pPr marL="0" indent="0">
              <a:spcBef>
                <a:spcPts val="600"/>
              </a:spcBef>
              <a:buNone/>
            </a:pPr>
            <a:endParaRPr lang="en-SG" dirty="0"/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// Prepare arguments for the first thread (covering the whole array)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</a:t>
            </a:r>
            <a:r>
              <a:rPr lang="en-SG" dirty="0" err="1"/>
              <a:t>ThreadArgs</a:t>
            </a:r>
            <a:r>
              <a:rPr lang="en-SG" dirty="0"/>
              <a:t> </a:t>
            </a:r>
            <a:r>
              <a:rPr lang="en-SG" dirty="0" err="1"/>
              <a:t>mainArgs</a:t>
            </a:r>
            <a:r>
              <a:rPr lang="en-SG" dirty="0"/>
              <a:t> = { </a:t>
            </a:r>
            <a:r>
              <a:rPr lang="en-SG" dirty="0" err="1"/>
              <a:t>arr</a:t>
            </a:r>
            <a:r>
              <a:rPr lang="en-SG" dirty="0"/>
              <a:t>, 0, n - 1 };</a:t>
            </a:r>
          </a:p>
          <a:p>
            <a:pPr marL="0" indent="0">
              <a:spcBef>
                <a:spcPts val="600"/>
              </a:spcBef>
              <a:buNone/>
            </a:pPr>
            <a:endParaRPr lang="en-SG" dirty="0"/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// Perform parallel merge sort using threads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</a:t>
            </a:r>
            <a:r>
              <a:rPr lang="en-SG" dirty="0" err="1"/>
              <a:t>mergeSort</a:t>
            </a:r>
            <a:r>
              <a:rPr lang="en-SG" dirty="0"/>
              <a:t>(&amp;</a:t>
            </a:r>
            <a:r>
              <a:rPr lang="en-SG" dirty="0" err="1"/>
              <a:t>mainArgs</a:t>
            </a:r>
            <a:r>
              <a:rPr lang="en-SG" dirty="0"/>
              <a:t>);</a:t>
            </a:r>
          </a:p>
          <a:p>
            <a:pPr marL="0" indent="0">
              <a:spcBef>
                <a:spcPts val="600"/>
              </a:spcBef>
              <a:buNone/>
            </a:pPr>
            <a:endParaRPr lang="en-SG" dirty="0"/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</a:t>
            </a:r>
            <a:r>
              <a:rPr lang="en-SG" dirty="0" err="1"/>
              <a:t>printf</a:t>
            </a:r>
            <a:r>
              <a:rPr lang="en-SG" dirty="0"/>
              <a:t>("Sorted array: \n");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for (</a:t>
            </a:r>
            <a:r>
              <a:rPr lang="en-SG" dirty="0" err="1"/>
              <a:t>int</a:t>
            </a:r>
            <a:r>
              <a:rPr lang="en-SG" dirty="0"/>
              <a:t> </a:t>
            </a:r>
            <a:r>
              <a:rPr lang="en-SG" dirty="0" err="1"/>
              <a:t>i</a:t>
            </a:r>
            <a:r>
              <a:rPr lang="en-SG" dirty="0"/>
              <a:t> = 0; </a:t>
            </a:r>
            <a:r>
              <a:rPr lang="en-SG" dirty="0" err="1"/>
              <a:t>i</a:t>
            </a:r>
            <a:r>
              <a:rPr lang="en-SG" dirty="0"/>
              <a:t> &lt; n; </a:t>
            </a:r>
            <a:r>
              <a:rPr lang="en-SG" dirty="0" err="1"/>
              <a:t>i</a:t>
            </a:r>
            <a:r>
              <a:rPr lang="en-SG" dirty="0"/>
              <a:t>++)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    </a:t>
            </a:r>
            <a:r>
              <a:rPr lang="en-SG" dirty="0" err="1"/>
              <a:t>printf</a:t>
            </a:r>
            <a:r>
              <a:rPr lang="en-SG" dirty="0"/>
              <a:t>("%d ", </a:t>
            </a:r>
            <a:r>
              <a:rPr lang="en-SG" dirty="0" err="1"/>
              <a:t>arr</a:t>
            </a:r>
            <a:r>
              <a:rPr lang="en-SG" dirty="0"/>
              <a:t>[</a:t>
            </a:r>
            <a:r>
              <a:rPr lang="en-SG" dirty="0" err="1"/>
              <a:t>i</a:t>
            </a:r>
            <a:r>
              <a:rPr lang="en-SG" dirty="0"/>
              <a:t>]);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</a:t>
            </a:r>
            <a:r>
              <a:rPr lang="en-SG" dirty="0" err="1"/>
              <a:t>printf</a:t>
            </a:r>
            <a:r>
              <a:rPr lang="en-SG" dirty="0"/>
              <a:t>("\n");</a:t>
            </a:r>
          </a:p>
          <a:p>
            <a:pPr marL="0" indent="0">
              <a:spcBef>
                <a:spcPts val="600"/>
              </a:spcBef>
              <a:buNone/>
            </a:pPr>
            <a:endParaRPr lang="en-SG" dirty="0"/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    return 0;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SG" dirty="0"/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299652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Multitasking can be done by running multiple processes, or having multiple treads running simultaneously.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fork() </a:t>
            </a:r>
            <a:r>
              <a:rPr lang="en-US" dirty="0"/>
              <a:t>can be used to generate multiple processes from one program</a:t>
            </a:r>
          </a:p>
          <a:p>
            <a:pPr marL="0" indent="0">
              <a:buNone/>
            </a:pPr>
            <a:r>
              <a:rPr lang="en-US" dirty="0"/>
              <a:t>but communication between processes is not convenient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Multithreaded programming </a:t>
            </a:r>
            <a:r>
              <a:rPr lang="en-US" dirty="0"/>
              <a:t>enables more efficient use of system resources and allow simple IPC</a:t>
            </a:r>
          </a:p>
          <a:p>
            <a:r>
              <a:rPr lang="en-US" dirty="0"/>
              <a:t>but need to be aware of data access synchronization issue that may cause race condition.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Critical section </a:t>
            </a:r>
            <a:r>
              <a:rPr lang="en-US" dirty="0"/>
              <a:t>is section of code that only allow one thread to enter at any one time</a:t>
            </a:r>
          </a:p>
          <a:p>
            <a:r>
              <a:rPr lang="en-US" dirty="0" err="1"/>
              <a:t>Mutex</a:t>
            </a:r>
            <a:r>
              <a:rPr lang="en-US" dirty="0"/>
              <a:t> is used to delimit the critical section</a:t>
            </a:r>
          </a:p>
          <a:p>
            <a:r>
              <a:rPr lang="en-US" dirty="0"/>
              <a:t>Semaphore can also be used, but is more suitable to perform event notification function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76797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33510</TotalTime>
  <Words>6588</Words>
  <Application>Microsoft Office PowerPoint</Application>
  <PresentationFormat>Widescreen</PresentationFormat>
  <Paragraphs>793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4" baseType="lpstr">
      <vt:lpstr>Courier</vt:lpstr>
      <vt:lpstr>HG Mincho Light J</vt:lpstr>
      <vt:lpstr>Nimbus Sans L</vt:lpstr>
      <vt:lpstr>Arial</vt:lpstr>
      <vt:lpstr>Calibri</vt:lpstr>
      <vt:lpstr>Courier New</vt:lpstr>
      <vt:lpstr>Helvetica</vt:lpstr>
      <vt:lpstr>Times New Roman</vt:lpstr>
      <vt:lpstr>Office Theme</vt:lpstr>
      <vt:lpstr>SC3103  Embedded Programming</vt:lpstr>
      <vt:lpstr>Multitasking</vt:lpstr>
      <vt:lpstr>Process, Thread and Task</vt:lpstr>
      <vt:lpstr>Process, Thread and Task</vt:lpstr>
      <vt:lpstr>Process, Thread and Task</vt:lpstr>
      <vt:lpstr>Multitasking by Processes</vt:lpstr>
      <vt:lpstr>Process Types</vt:lpstr>
      <vt:lpstr>Task States</vt:lpstr>
      <vt:lpstr>Orphan Process and Zombie Process</vt:lpstr>
      <vt:lpstr>Multi-Process by fork()</vt:lpstr>
      <vt:lpstr>fork()</vt:lpstr>
      <vt:lpstr>PowerPoint Presentation</vt:lpstr>
      <vt:lpstr>Multitasking by Processes </vt:lpstr>
      <vt:lpstr>Multitasking by Processes</vt:lpstr>
      <vt:lpstr>clone()</vt:lpstr>
      <vt:lpstr>Executing New Program with exec()</vt:lpstr>
      <vt:lpstr>Variants of exec()</vt:lpstr>
      <vt:lpstr>Example of execvp()</vt:lpstr>
      <vt:lpstr>Multithreaded Programming</vt:lpstr>
      <vt:lpstr>POSIX Threads Standard</vt:lpstr>
      <vt:lpstr>Multitasking Using Threads</vt:lpstr>
      <vt:lpstr>Thread Executions</vt:lpstr>
      <vt:lpstr>Resources Usage</vt:lpstr>
      <vt:lpstr>Multithreading &amp; IPC</vt:lpstr>
      <vt:lpstr>Pthread for C Program</vt:lpstr>
      <vt:lpstr>Pthread for C Program</vt:lpstr>
      <vt:lpstr>A Basic Multithreaded C Program</vt:lpstr>
      <vt:lpstr>Basic Multithreaded C Program (cont.)</vt:lpstr>
      <vt:lpstr>Another Example</vt:lpstr>
      <vt:lpstr>Another Example (cont)</vt:lpstr>
      <vt:lpstr>Some Notes on Threads</vt:lpstr>
      <vt:lpstr>Thread Synchronization</vt:lpstr>
      <vt:lpstr>Race Condition (cont.)</vt:lpstr>
      <vt:lpstr>Critical Section</vt:lpstr>
      <vt:lpstr>Mutex</vt:lpstr>
      <vt:lpstr>Mutex (cont.)</vt:lpstr>
      <vt:lpstr>Example of Mutex Code</vt:lpstr>
      <vt:lpstr>Mutex Control Functions</vt:lpstr>
      <vt:lpstr>Mutex Control Functions (cont.)</vt:lpstr>
      <vt:lpstr>Semaphore</vt:lpstr>
      <vt:lpstr>Semaphore Controls</vt:lpstr>
      <vt:lpstr>Semaphore Controls (cont.)</vt:lpstr>
      <vt:lpstr>Code Snippet - Binary Semaphore</vt:lpstr>
      <vt:lpstr>Binary Semaphore (cont.)</vt:lpstr>
      <vt:lpstr>Producer-Consumer Problem</vt:lpstr>
      <vt:lpstr>Producer-Consumer Problem (cont.)</vt:lpstr>
      <vt:lpstr>Code Snippet - Producer</vt:lpstr>
      <vt:lpstr>Code Snippet - Consumer</vt:lpstr>
      <vt:lpstr>Code Snippet - Main</vt:lpstr>
      <vt:lpstr>Multiple Producers/Consumers</vt:lpstr>
      <vt:lpstr>Code Snippet – Mutex with Semaphore</vt:lpstr>
      <vt:lpstr>Comparison</vt:lpstr>
      <vt:lpstr>Merge Sort by Multithreading 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Loke Yuan Ren (Dr)</dc:creator>
  <cp:lastModifiedBy>Loke Yuan Ren (Dr)</cp:lastModifiedBy>
  <cp:revision>155</cp:revision>
  <dcterms:created xsi:type="dcterms:W3CDTF">2023-09-16T11:58:53Z</dcterms:created>
  <dcterms:modified xsi:type="dcterms:W3CDTF">2026-03-12T12:39:12Z</dcterms:modified>
</cp:coreProperties>
</file>